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80" r:id="rId6"/>
    <p:sldId id="278" r:id="rId7"/>
    <p:sldId id="279" r:id="rId8"/>
    <p:sldId id="281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6" r:id="rId18"/>
    <p:sldId id="265" r:id="rId19"/>
    <p:sldId id="267" r:id="rId20"/>
    <p:sldId id="268" r:id="rId21"/>
    <p:sldId id="276" r:id="rId22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5"/>
  </p:normalViewPr>
  <p:slideViewPr>
    <p:cSldViewPr>
      <p:cViewPr varScale="1">
        <p:scale>
          <a:sx n="118" d="100"/>
          <a:sy n="118" d="100"/>
        </p:scale>
        <p:origin x="16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E34D0D-D6FC-E9B5-DA96-6BB788B264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5D0711-A8EA-8461-0C65-796D39B653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228E35-B861-E9FC-806A-BACF33DD52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2D2922-869E-D749-98A0-5564DBAAE05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59804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86D039-B40E-5FF7-064D-2D94422F43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226BC9-5CF1-96DA-E7B2-8D2E9F3DE0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1B6C3E-5EB9-CB2B-89C4-C073CBE6FC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11294-BCE8-1A4B-9A6B-4C27A42D268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003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64FDDE-BDF0-6A50-78F7-3B815BF041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F6AD88-924D-9A0A-650B-9F51D435F3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922FB3-DB50-AF0E-E475-AA18BBB0CB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6440D6-00E5-2F4B-81F4-429C5055714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598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7095F-A864-32D3-26B0-3F240866C0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17693-E439-9B12-D5DF-E04AB2A96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7F8E63-FBA0-C9B7-B4B0-B73460E578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4F6FEB-65A4-AD4D-BEC2-49FDF7E6A77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3304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B9AF250-E5E6-FF97-DE0D-00532BE517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A3E64E6-0528-DE92-3C06-2125DE49A7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ADCDEF-68EA-7485-F860-B5DDC630FC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A1EFAD-A915-E94F-8E01-ACF184A4860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9963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E7B5C7D-CA18-CFE6-8712-1FFE76AE9D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09CB6D-23A4-70AA-7FB3-911F51522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DB7DA7-EABC-B925-78A3-17B5F4B83B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A05E87-8CC6-844F-93B6-EF311A1BE89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36874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04CF156-5580-1E12-4A67-1F9467108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41979A0-1D4D-EDCE-2C85-2A042E59A4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7DF438-126C-B42E-A212-5E4018E6D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85DC61-9788-044A-A330-71B2989CF54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528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F345BA-B3DB-A009-78C8-519352E443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37CBA-59DA-FCDD-9BAA-62946BD36D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44B96-9C07-E372-66A0-DA07E4621A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26302-09B0-F34A-8AC0-4AAD2774DF1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4721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886670-CE11-7D3D-3C6A-00BF68FDD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5B571-D8B8-1C91-6E47-14E4A448E4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9F39BA-3252-AF09-5A01-75A5445EC4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BB7494-AA79-3146-9F3D-7028DEED021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2312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930AE6-A5AC-3C99-26CC-DEA1AF38B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0C7FF8-9238-C325-7493-B01D80D8F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7374E1-6B7B-8B48-12B7-BCD418103F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87A2A9-EAE5-7C40-8E0F-91E16D94AD6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3986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9A5FDF-0F8D-1AB5-E38D-E56B86D554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1C41CB-5706-994B-7456-E613A3A42A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480557-4CF6-A5E5-8EFA-FC7B1B6646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1080D-9E5C-1F41-A92A-DB250FAFB05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3881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CC6BB7-CD68-615B-C2C8-E3ADE3F3E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238F710-5C5F-9E6A-AA1B-CA180A204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6F0BF53-DAB4-CA5C-7215-94AD12A847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A62C2D-40A5-306B-CBE9-1B73C9A3CA4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E8E998B-B8D6-1D72-0B5E-776D9C8D13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E1BAF84-2EFC-3443-B649-A058AE48F9DE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pt.wikipedia.org/wiki/Programa_de_computador" TargetMode="External"/><Relationship Id="rId2" Type="http://schemas.openxmlformats.org/officeDocument/2006/relationships/hyperlink" Target="http://pt.wikipedia.org/wiki/Instru%C3%A7%C3%A3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94058DC-0BF9-87CE-836B-9ABC498374B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pt-BR" sz="3200">
                <a:solidFill>
                  <a:schemeClr val="accent2"/>
                </a:solidFill>
              </a:rPr>
              <a:t>INTRODUÇÃO À LÓGICA DE PROGRAMAÇÃO</a:t>
            </a:r>
            <a:endParaRPr lang="pt-BR" altLang="pt-BR" sz="32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C9F04BA-147B-E718-9967-2AEF656968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>
              <a:lnSpc>
                <a:spcPct val="80000"/>
              </a:lnSpc>
            </a:pPr>
            <a:endParaRPr lang="pt-BR" altLang="pt-BR" sz="2400">
              <a:solidFill>
                <a:schemeClr val="accent2"/>
              </a:solidFill>
            </a:endParaRPr>
          </a:p>
          <a:p>
            <a:pPr algn="r" eaLnBrk="1" hangingPunct="1">
              <a:lnSpc>
                <a:spcPct val="80000"/>
              </a:lnSpc>
            </a:pPr>
            <a:endParaRPr lang="pt-BR" altLang="pt-BR" sz="2400">
              <a:solidFill>
                <a:schemeClr val="accent2"/>
              </a:solidFill>
            </a:endParaRPr>
          </a:p>
          <a:p>
            <a:pPr algn="r" eaLnBrk="1" hangingPunct="1">
              <a:lnSpc>
                <a:spcPct val="80000"/>
              </a:lnSpc>
            </a:pPr>
            <a:r>
              <a:rPr lang="pt-BR" altLang="pt-BR" sz="2400">
                <a:solidFill>
                  <a:schemeClr val="accent2"/>
                </a:solidFill>
              </a:rPr>
              <a:t>Prof. William malvezzi, MSc.</a:t>
            </a:r>
            <a:endParaRPr lang="pt-BR" altLang="pt-BR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2A78C897-E214-8D27-2A57-06CF6E46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>
                <a:solidFill>
                  <a:schemeClr val="accent2"/>
                </a:solidFill>
              </a:rPr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7224FA-5495-90BA-6389-BD855EFE7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600200"/>
            <a:ext cx="8713788" cy="5068888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pt-BR" sz="2000" dirty="0"/>
              <a:t>O objetivo primordial desta aula é introduzir ao aluno os conceitos básicos de Lógica de Programação, utilizando uma linguagem de programação de alto nível (neste caso a linguagem C).</a:t>
            </a:r>
          </a:p>
          <a:p>
            <a:pPr marL="0" indent="0">
              <a:buFontTx/>
              <a:buNone/>
              <a:defRPr/>
            </a:pPr>
            <a:endParaRPr lang="pt-BR" sz="2000" dirty="0"/>
          </a:p>
          <a:p>
            <a:pPr>
              <a:defRPr/>
            </a:pPr>
            <a:r>
              <a:rPr lang="pt-BR" sz="2000" dirty="0"/>
              <a:t>Aprender conceitos de abstração por meio de modelagem do problema proposto.</a:t>
            </a:r>
          </a:p>
          <a:p>
            <a:pPr>
              <a:defRPr/>
            </a:pPr>
            <a:r>
              <a:rPr lang="pt-BR" sz="2000" dirty="0"/>
              <a:t>Apresentar as estruturas básicas de processamento de dados e suas funcionalidades de maneira a alcançar a concretização da solução algorítmica por meio de um programa funcional.</a:t>
            </a:r>
          </a:p>
          <a:p>
            <a:pPr>
              <a:defRPr/>
            </a:pPr>
            <a:r>
              <a:rPr lang="pt-BR" sz="2000" dirty="0"/>
              <a:t>Apresentar o raciocínio lógico aplicado à solução de problemas computacionais</a:t>
            </a:r>
          </a:p>
          <a:p>
            <a:pPr>
              <a:defRPr/>
            </a:pPr>
            <a:endParaRPr lang="pt-BR" sz="2400" dirty="0"/>
          </a:p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C272E29A-A7FC-6314-693F-90B7BA48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>
                <a:solidFill>
                  <a:schemeClr val="accent2"/>
                </a:solidFill>
              </a:rPr>
              <a:t>Metodologia</a:t>
            </a:r>
          </a:p>
        </p:txBody>
      </p:sp>
      <p:sp>
        <p:nvSpPr>
          <p:cNvPr id="4099" name="Espaço Reservado para Conteúdo 2">
            <a:extLst>
              <a:ext uri="{FF2B5EF4-FFF2-40B4-BE49-F238E27FC236}">
                <a16:creationId xmlns:a16="http://schemas.microsoft.com/office/drawing/2014/main" id="{91AC8FE0-0CCC-6EFB-733F-B81061E7F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altLang="pt-BR" sz="2400"/>
              <a:t>Aula expositiva dialógica (Vice-Versa), exposição via projetor de slides seguindo as seguintes etapas: </a:t>
            </a:r>
          </a:p>
          <a:p>
            <a:pPr marL="0" indent="0">
              <a:buFontTx/>
              <a:buNone/>
            </a:pPr>
            <a:endParaRPr lang="pt-BR" altLang="pt-BR" sz="2400"/>
          </a:p>
          <a:p>
            <a:pPr marL="400050" lvl="1" indent="0">
              <a:buFontTx/>
              <a:buAutoNum type="romanUcPeriod"/>
            </a:pPr>
            <a:r>
              <a:rPr lang="pt-BR" altLang="pt-BR" sz="2000"/>
              <a:t> Será feita a apresentação do tema e conteúdo, objetos da aula.</a:t>
            </a:r>
          </a:p>
          <a:p>
            <a:pPr marL="400050" lvl="1" indent="0">
              <a:buFontTx/>
              <a:buNone/>
            </a:pPr>
            <a:endParaRPr lang="pt-BR" altLang="pt-BR" sz="2000"/>
          </a:p>
          <a:p>
            <a:pPr marL="400050" lvl="1" indent="0">
              <a:buFontTx/>
              <a:buAutoNum type="romanUcPeriod"/>
            </a:pPr>
            <a:r>
              <a:rPr lang="pt-BR" altLang="pt-BR" sz="2000"/>
              <a:t> Apresentação, de forma sucinta, da técnica de modelagem de dados e suas aplicações básicas.</a:t>
            </a:r>
          </a:p>
          <a:p>
            <a:pPr marL="400050" lvl="1" indent="0">
              <a:buFontTx/>
              <a:buAutoNum type="romanUcPeriod"/>
            </a:pPr>
            <a:endParaRPr lang="pt-BR" altLang="pt-BR" sz="2000"/>
          </a:p>
          <a:p>
            <a:pPr marL="400050" lvl="1" indent="0">
              <a:buFontTx/>
              <a:buAutoNum type="romanUcPeriod"/>
            </a:pPr>
            <a:r>
              <a:rPr lang="pt-BR" altLang="pt-BR" sz="2000"/>
              <a:t> Espaço para questionamentos e interação sobre o 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FBA5E02C-FFDA-6129-8BA7-DC8DF6FE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>
                <a:solidFill>
                  <a:schemeClr val="accent2"/>
                </a:solidFill>
              </a:rPr>
              <a:t>Conteúdos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817D4F-91AF-935F-2560-AE09EAF3B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Tx/>
              <a:buAutoNum type="romanUcPeriod"/>
              <a:defRPr/>
            </a:pPr>
            <a:endParaRPr lang="pt-BR" altLang="pt-BR" dirty="0"/>
          </a:p>
          <a:p>
            <a:pPr marL="571500" indent="-571500">
              <a:buFontTx/>
              <a:buAutoNum type="romanUcPeriod"/>
              <a:defRPr/>
            </a:pPr>
            <a:r>
              <a:rPr lang="pt-BR" altLang="pt-BR" sz="2400" dirty="0"/>
              <a:t>Introdução à Logica de Programação</a:t>
            </a:r>
          </a:p>
          <a:p>
            <a:pPr marL="0" indent="0">
              <a:buFontTx/>
              <a:buNone/>
              <a:defRPr/>
            </a:pPr>
            <a:endParaRPr lang="pt-BR" altLang="pt-BR" sz="2400" dirty="0"/>
          </a:p>
          <a:p>
            <a:pPr marL="0" indent="0">
              <a:buFontTx/>
              <a:buNone/>
              <a:defRPr/>
            </a:pPr>
            <a:r>
              <a:rPr lang="pt-BR" altLang="pt-BR" sz="2400" dirty="0"/>
              <a:t>	I.I – O alvo é a resolução de problemas</a:t>
            </a:r>
          </a:p>
          <a:p>
            <a:pPr marL="0" indent="0">
              <a:buFontTx/>
              <a:buNone/>
              <a:defRPr/>
            </a:pPr>
            <a:r>
              <a:rPr lang="pt-BR" altLang="pt-BR" sz="2400" dirty="0"/>
              <a:t>	I.II – O mundo real a ser considerado</a:t>
            </a:r>
          </a:p>
          <a:p>
            <a:pPr marL="571500" indent="-571500">
              <a:buFontTx/>
              <a:buNone/>
              <a:defRPr/>
            </a:pPr>
            <a:r>
              <a:rPr lang="pt-BR" altLang="pt-BR" sz="2400" dirty="0"/>
              <a:t> 		I.III – Modelagem e abstração de dados</a:t>
            </a:r>
          </a:p>
          <a:p>
            <a:pPr marL="571500" indent="-571500">
              <a:buFontTx/>
              <a:buNone/>
              <a:defRPr/>
            </a:pPr>
            <a:r>
              <a:rPr lang="pt-BR" altLang="pt-BR" sz="2400" dirty="0"/>
              <a:t>		I.IV - Codificação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>
            <a:extLst>
              <a:ext uri="{FF2B5EF4-FFF2-40B4-BE49-F238E27FC236}">
                <a16:creationId xmlns:a16="http://schemas.microsoft.com/office/drawing/2014/main" id="{219A04F4-EEB2-4C86-B480-301306E9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>
                <a:solidFill>
                  <a:schemeClr val="accent2"/>
                </a:solidFill>
              </a:rPr>
              <a:t>Como Tudo Começou</a:t>
            </a:r>
            <a:r>
              <a:rPr lang="pt-BR" altLang="pt-BR" sz="360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6147" name="Espaço Reservado para Conteúdo 2">
            <a:extLst>
              <a:ext uri="{FF2B5EF4-FFF2-40B4-BE49-F238E27FC236}">
                <a16:creationId xmlns:a16="http://schemas.microsoft.com/office/drawing/2014/main" id="{96D6058E-0921-B655-710E-B5F8E4FD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altLang="pt-BR" sz="2800"/>
          </a:p>
          <a:p>
            <a:pPr marL="0" indent="0">
              <a:buFontTx/>
              <a:buNone/>
            </a:pPr>
            <a:r>
              <a:rPr lang="pt-BR" altLang="pt-BR" sz="2400"/>
              <a:t>O ser humano, desde o inicio desde os primórdios da civilização, vem procurado meios para solucionar seus problemas. No decorrer de sua história, ele foi criando recursos, ferramentas e máquinas para ajudá-lo. </a:t>
            </a:r>
          </a:p>
          <a:p>
            <a:pPr marL="0" indent="0">
              <a:buFontTx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AA02FD-6C44-5113-E20C-DA038097C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35975" cy="1498600"/>
          </a:xfrm>
        </p:spPr>
        <p:txBody>
          <a:bodyPr/>
          <a:lstStyle/>
          <a:p>
            <a:pPr eaLnBrk="1" hangingPunct="1"/>
            <a:r>
              <a:rPr lang="pt-BR" altLang="pt-BR" sz="2800">
                <a:solidFill>
                  <a:schemeClr val="accent2"/>
                </a:solidFill>
              </a:rPr>
              <a:t>Etapas da Resolução de Problemas </a:t>
            </a:r>
            <a:br>
              <a:rPr lang="pt-BR" altLang="pt-BR" sz="2800">
                <a:solidFill>
                  <a:schemeClr val="accent2"/>
                </a:solidFill>
              </a:rPr>
            </a:br>
            <a:r>
              <a:rPr lang="pt-BR" altLang="pt-BR" sz="2800">
                <a:solidFill>
                  <a:schemeClr val="accent2"/>
                </a:solidFill>
              </a:rPr>
              <a:t>Usando um Computador</a:t>
            </a:r>
          </a:p>
        </p:txBody>
      </p:sp>
      <p:sp>
        <p:nvSpPr>
          <p:cNvPr id="7171" name="Text Box 4">
            <a:extLst>
              <a:ext uri="{FF2B5EF4-FFF2-40B4-BE49-F238E27FC236}">
                <a16:creationId xmlns:a16="http://schemas.microsoft.com/office/drawing/2014/main" id="{50BEB757-2C08-FD31-12DC-0FD83D088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2924175"/>
            <a:ext cx="1547812" cy="925513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/>
              <a:t>Definição do problema a ser resolvido</a:t>
            </a:r>
          </a:p>
        </p:txBody>
      </p:sp>
      <p:sp>
        <p:nvSpPr>
          <p:cNvPr id="7172" name="Text Box 5">
            <a:extLst>
              <a:ext uri="{FF2B5EF4-FFF2-40B4-BE49-F238E27FC236}">
                <a16:creationId xmlns:a16="http://schemas.microsoft.com/office/drawing/2014/main" id="{CF5F6D5B-C0E6-93A6-70FB-1EE13033D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663" y="2924175"/>
            <a:ext cx="1438275" cy="120015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/>
              <a:t>Solução do problema na forma de algoritmo</a:t>
            </a:r>
          </a:p>
        </p:txBody>
      </p:sp>
      <p:sp>
        <p:nvSpPr>
          <p:cNvPr id="7173" name="Text Box 6">
            <a:extLst>
              <a:ext uri="{FF2B5EF4-FFF2-40B4-BE49-F238E27FC236}">
                <a16:creationId xmlns:a16="http://schemas.microsoft.com/office/drawing/2014/main" id="{CE7AD4A5-82C0-7DFD-75CC-58A1376F0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2924175"/>
            <a:ext cx="1512887" cy="12001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/>
              <a:t>Transcrição do algoritmo na forma de programa</a:t>
            </a:r>
          </a:p>
        </p:txBody>
      </p:sp>
      <p:sp>
        <p:nvSpPr>
          <p:cNvPr id="7174" name="Text Box 7">
            <a:extLst>
              <a:ext uri="{FF2B5EF4-FFF2-40B4-BE49-F238E27FC236}">
                <a16:creationId xmlns:a16="http://schemas.microsoft.com/office/drawing/2014/main" id="{9381857E-4D99-2AB9-BC47-74AFACCB8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013" y="2924175"/>
            <a:ext cx="1908175" cy="106203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/>
              <a:t>Compilação ou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/>
              <a:t>interpretação do programa</a:t>
            </a:r>
          </a:p>
        </p:txBody>
      </p:sp>
      <p:sp>
        <p:nvSpPr>
          <p:cNvPr id="7175" name="Text Box 8">
            <a:extLst>
              <a:ext uri="{FF2B5EF4-FFF2-40B4-BE49-F238E27FC236}">
                <a16:creationId xmlns:a16="http://schemas.microsoft.com/office/drawing/2014/main" id="{54B93ABB-0C06-F2C9-3CF7-D800B568A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2922588"/>
            <a:ext cx="1258887" cy="9255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1800"/>
              <a:t>Execução do programa</a:t>
            </a:r>
          </a:p>
        </p:txBody>
      </p:sp>
      <p:sp>
        <p:nvSpPr>
          <p:cNvPr id="7176" name="Text Box 9">
            <a:extLst>
              <a:ext uri="{FF2B5EF4-FFF2-40B4-BE49-F238E27FC236}">
                <a16:creationId xmlns:a16="http://schemas.microsoft.com/office/drawing/2014/main" id="{EF59546F-0F29-F92F-1F3B-43AD5E6B6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800" y="4646613"/>
            <a:ext cx="1466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Ser Humano</a:t>
            </a:r>
          </a:p>
        </p:txBody>
      </p:sp>
      <p:sp>
        <p:nvSpPr>
          <p:cNvPr id="7177" name="Text Box 10">
            <a:extLst>
              <a:ext uri="{FF2B5EF4-FFF2-40B4-BE49-F238E27FC236}">
                <a16:creationId xmlns:a16="http://schemas.microsoft.com/office/drawing/2014/main" id="{95FAF055-4B0F-2B51-7E03-B1F1E63B8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4575175"/>
            <a:ext cx="1441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Computador</a:t>
            </a:r>
          </a:p>
        </p:txBody>
      </p:sp>
      <p:sp>
        <p:nvSpPr>
          <p:cNvPr id="7178" name="Line 11">
            <a:extLst>
              <a:ext uri="{FF2B5EF4-FFF2-40B4-BE49-F238E27FC236}">
                <a16:creationId xmlns:a16="http://schemas.microsoft.com/office/drawing/2014/main" id="{93B197AD-3419-C173-E776-073C84926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342900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79" name="Line 12">
            <a:extLst>
              <a:ext uri="{FF2B5EF4-FFF2-40B4-BE49-F238E27FC236}">
                <a16:creationId xmlns:a16="http://schemas.microsoft.com/office/drawing/2014/main" id="{0D81DD92-9AD5-276E-CF35-B4AB52228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342900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80" name="Line 13">
            <a:extLst>
              <a:ext uri="{FF2B5EF4-FFF2-40B4-BE49-F238E27FC236}">
                <a16:creationId xmlns:a16="http://schemas.microsoft.com/office/drawing/2014/main" id="{777E262C-6403-C2F1-1A0F-7369A8071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3429000"/>
            <a:ext cx="179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81" name="Line 14">
            <a:extLst>
              <a:ext uri="{FF2B5EF4-FFF2-40B4-BE49-F238E27FC236}">
                <a16:creationId xmlns:a16="http://schemas.microsoft.com/office/drawing/2014/main" id="{5BB8A86C-788E-65A6-E34C-9D1F0E4293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338613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82" name="Line 16">
            <a:extLst>
              <a:ext uri="{FF2B5EF4-FFF2-40B4-BE49-F238E27FC236}">
                <a16:creationId xmlns:a16="http://schemas.microsoft.com/office/drawing/2014/main" id="{48B6B835-66C4-3745-9D85-B6736FC0C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42926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83" name="Line 18">
            <a:extLst>
              <a:ext uri="{FF2B5EF4-FFF2-40B4-BE49-F238E27FC236}">
                <a16:creationId xmlns:a16="http://schemas.microsoft.com/office/drawing/2014/main" id="{12FB4846-C7AE-37F7-33BC-3B564446E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42926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84" name="Line 19">
            <a:extLst>
              <a:ext uri="{FF2B5EF4-FFF2-40B4-BE49-F238E27FC236}">
                <a16:creationId xmlns:a16="http://schemas.microsoft.com/office/drawing/2014/main" id="{94B72001-D2B3-7F40-2144-5FA15F5A1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4581525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85" name="Line 20">
            <a:extLst>
              <a:ext uri="{FF2B5EF4-FFF2-40B4-BE49-F238E27FC236}">
                <a16:creationId xmlns:a16="http://schemas.microsoft.com/office/drawing/2014/main" id="{D1A4C5EA-98DF-3FB3-A23E-047DAE1FEF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4075" y="4581525"/>
            <a:ext cx="2519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F666D16-4480-95D0-9D70-818580D7F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800">
                <a:solidFill>
                  <a:schemeClr val="accent2"/>
                </a:solidFill>
              </a:rPr>
              <a:t>Lógica de Programação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136A855-7CC5-01A0-B25E-E01BA96A5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000">
                <a:solidFill>
                  <a:schemeClr val="accent2"/>
                </a:solidFill>
              </a:rPr>
              <a:t>Algoritmo:</a:t>
            </a:r>
          </a:p>
          <a:p>
            <a:pPr lvl="1" eaLnBrk="1" hangingPunct="1"/>
            <a:r>
              <a:rPr lang="pt-BR" altLang="pt-BR" sz="2000"/>
              <a:t>Um </a:t>
            </a:r>
            <a:r>
              <a:rPr lang="pt-BR" altLang="pt-BR" sz="2000" b="1"/>
              <a:t>algoritmo</a:t>
            </a:r>
            <a:r>
              <a:rPr lang="pt-BR" altLang="pt-BR" sz="2000"/>
              <a:t> é uma sequência não ambígua de </a:t>
            </a:r>
            <a:r>
              <a:rPr lang="pt-BR" altLang="pt-BR" sz="2000">
                <a:hlinkClick r:id="rId2" tooltip="Instrução"/>
              </a:rPr>
              <a:t>instruções</a:t>
            </a:r>
            <a:r>
              <a:rPr lang="pt-BR" altLang="pt-BR" sz="2000"/>
              <a:t> que é executada até que determinada condição se verifique.</a:t>
            </a:r>
          </a:p>
          <a:p>
            <a:pPr lvl="1" eaLnBrk="1" hangingPunct="1"/>
            <a:r>
              <a:rPr lang="pt-BR" altLang="pt-BR" sz="2000"/>
              <a:t>Um algoritmo não representa, necessariamente, um </a:t>
            </a:r>
            <a:r>
              <a:rPr lang="pt-BR" altLang="pt-BR" sz="2000">
                <a:hlinkClick r:id="rId3" tooltip="Programa de computador"/>
              </a:rPr>
              <a:t>programa de computador</a:t>
            </a:r>
            <a:r>
              <a:rPr lang="pt-BR" altLang="pt-BR" sz="2000"/>
              <a:t>, e sim os passos necessários para realizar uma tarefa. </a:t>
            </a:r>
          </a:p>
          <a:p>
            <a:pPr lvl="1" eaLnBrk="1" hangingPunct="1"/>
            <a:r>
              <a:rPr lang="pt-BR" altLang="pt-BR" sz="2000"/>
              <a:t>Exemplo: Receita de bolo.</a:t>
            </a:r>
          </a:p>
          <a:p>
            <a:pPr eaLnBrk="1" hangingPunct="1"/>
            <a:endParaRPr lang="pt-BR" altLang="pt-BR" sz="2400"/>
          </a:p>
        </p:txBody>
      </p:sp>
      <p:pic>
        <p:nvPicPr>
          <p:cNvPr id="8196" name="Picture 8" descr="j0410487[1]">
            <a:extLst>
              <a:ext uri="{FF2B5EF4-FFF2-40B4-BE49-F238E27FC236}">
                <a16:creationId xmlns:a16="http://schemas.microsoft.com/office/drawing/2014/main" id="{E746BA5C-20D5-EF9E-5C0C-98CA5E8DE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4125913"/>
            <a:ext cx="14763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11" descr="j0199284[1]">
            <a:extLst>
              <a:ext uri="{FF2B5EF4-FFF2-40B4-BE49-F238E27FC236}">
                <a16:creationId xmlns:a16="http://schemas.microsoft.com/office/drawing/2014/main" id="{ADCFCF32-16B3-7696-C84D-F62227D55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88" y="4589463"/>
            <a:ext cx="194945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14" descr="j0149918[2]">
            <a:extLst>
              <a:ext uri="{FF2B5EF4-FFF2-40B4-BE49-F238E27FC236}">
                <a16:creationId xmlns:a16="http://schemas.microsoft.com/office/drawing/2014/main" id="{7A436E7A-A35C-857D-8170-16C22A11D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4437063"/>
            <a:ext cx="2387600" cy="190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AutoShape 15">
            <a:extLst>
              <a:ext uri="{FF2B5EF4-FFF2-40B4-BE49-F238E27FC236}">
                <a16:creationId xmlns:a16="http://schemas.microsoft.com/office/drawing/2014/main" id="{820C712A-8CA5-B9C8-B035-E31668E40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113" y="5334000"/>
            <a:ext cx="863600" cy="279400"/>
          </a:xfrm>
          <a:prstGeom prst="rightArrow">
            <a:avLst>
              <a:gd name="adj1" fmla="val 50000"/>
              <a:gd name="adj2" fmla="val 429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8200" name="AutoShape 16">
            <a:extLst>
              <a:ext uri="{FF2B5EF4-FFF2-40B4-BE49-F238E27FC236}">
                <a16:creationId xmlns:a16="http://schemas.microsoft.com/office/drawing/2014/main" id="{C5B6F23F-BD97-369E-B16F-0F9A10F43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5348288"/>
            <a:ext cx="863600" cy="252412"/>
          </a:xfrm>
          <a:prstGeom prst="rightArrow">
            <a:avLst>
              <a:gd name="adj1" fmla="val 50000"/>
              <a:gd name="adj2" fmla="val 427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>
            <a:extLst>
              <a:ext uri="{FF2B5EF4-FFF2-40B4-BE49-F238E27FC236}">
                <a16:creationId xmlns:a16="http://schemas.microsoft.com/office/drawing/2014/main" id="{19FD84D4-580E-E614-B2F7-9E294277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>
                <a:solidFill>
                  <a:schemeClr val="accent2"/>
                </a:solidFill>
              </a:rPr>
              <a:t>Vejamos um 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9D1592-6187-7CBA-D9D1-3AD5D7B9D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>
              <a:buFontTx/>
              <a:buNone/>
              <a:defRPr/>
            </a:pPr>
            <a:r>
              <a:rPr lang="en-US" sz="2000" dirty="0" err="1"/>
              <a:t>Receba</a:t>
            </a:r>
            <a:r>
              <a:rPr lang="en-US" sz="2000" dirty="0"/>
              <a:t> o </a:t>
            </a:r>
            <a:r>
              <a:rPr lang="en-US" sz="2000" dirty="0" err="1"/>
              <a:t>salário</a:t>
            </a:r>
            <a:r>
              <a:rPr lang="en-US" sz="2000" dirty="0"/>
              <a:t> de um </a:t>
            </a:r>
            <a:r>
              <a:rPr lang="en-US" sz="2000" dirty="0" err="1"/>
              <a:t>funcionário</a:t>
            </a:r>
            <a:r>
              <a:rPr lang="en-US" sz="2000" dirty="0"/>
              <a:t>, </a:t>
            </a:r>
            <a:r>
              <a:rPr lang="en-US" sz="2000" dirty="0" err="1"/>
              <a:t>calcule</a:t>
            </a:r>
            <a:r>
              <a:rPr lang="en-US" sz="2000" dirty="0"/>
              <a:t> um </a:t>
            </a:r>
            <a:r>
              <a:rPr lang="en-US" sz="2000" dirty="0" err="1"/>
              <a:t>acréscimo</a:t>
            </a:r>
            <a:r>
              <a:rPr lang="en-US" sz="2000" dirty="0"/>
              <a:t> de 40 </a:t>
            </a:r>
            <a:r>
              <a:rPr lang="en-US" sz="2000" dirty="0" err="1"/>
              <a:t>reais</a:t>
            </a:r>
            <a:r>
              <a:rPr lang="en-US" sz="2000" dirty="0"/>
              <a:t> e </a:t>
            </a:r>
            <a:r>
              <a:rPr lang="en-US" sz="2000" dirty="0" err="1"/>
              <a:t>mostre</a:t>
            </a:r>
            <a:r>
              <a:rPr lang="en-US" sz="2000" dirty="0"/>
              <a:t> o novo </a:t>
            </a:r>
            <a:r>
              <a:rPr lang="en-US" sz="2000" dirty="0" err="1"/>
              <a:t>salário</a:t>
            </a:r>
            <a:r>
              <a:rPr lang="en-US" sz="2000" dirty="0"/>
              <a:t>. </a:t>
            </a:r>
          </a:p>
          <a:p>
            <a:pPr marL="0" lvl="2" indent="0">
              <a:buFontTx/>
              <a:buNone/>
              <a:defRPr/>
            </a:pPr>
            <a:endParaRPr lang="en-US" dirty="0"/>
          </a:p>
          <a:p>
            <a:pPr marL="635001" lvl="1" indent="-284163" algn="just" eaLnBrk="1" hangingPunct="1">
              <a:spcAft>
                <a:spcPts val="775"/>
              </a:spcAft>
              <a:buFont typeface="Wingdings" pitchFamily="2" charset="2"/>
              <a:buNone/>
              <a:tabLst>
                <a:tab pos="381000" algn="l"/>
                <a:tab pos="476250" algn="l"/>
                <a:tab pos="882650" algn="l"/>
                <a:tab pos="1290638" algn="l"/>
                <a:tab pos="1698625" algn="l"/>
                <a:tab pos="2106613" algn="l"/>
                <a:tab pos="2513013" algn="l"/>
                <a:tab pos="2921000" algn="l"/>
                <a:tab pos="3328988" algn="l"/>
                <a:tab pos="3735388" algn="l"/>
                <a:tab pos="4143375" algn="l"/>
                <a:tab pos="4551363" algn="l"/>
                <a:tab pos="4959350" algn="l"/>
                <a:tab pos="5365750" algn="l"/>
                <a:tab pos="5773738" algn="l"/>
                <a:tab pos="6181725" algn="l"/>
                <a:tab pos="6588125" algn="l"/>
                <a:tab pos="6996113" algn="l"/>
                <a:tab pos="7404100" algn="l"/>
                <a:tab pos="7812088" algn="l"/>
                <a:tab pos="8218488" algn="l"/>
              </a:tabLst>
              <a:defRPr/>
            </a:pPr>
            <a:r>
              <a:rPr lang="en-US" sz="2000" b="1" dirty="0"/>
              <a:t>Entrada</a:t>
            </a:r>
            <a:r>
              <a:rPr lang="en-US" sz="2000" dirty="0"/>
              <a:t>: </a:t>
            </a:r>
            <a:r>
              <a:rPr lang="en-US" sz="2000" dirty="0" err="1"/>
              <a:t>Salário</a:t>
            </a:r>
            <a:endParaRPr lang="en-US" sz="2000" dirty="0"/>
          </a:p>
          <a:p>
            <a:pPr marL="635001" lvl="1" indent="-284163" algn="just" eaLnBrk="1" hangingPunct="1">
              <a:spcAft>
                <a:spcPts val="775"/>
              </a:spcAft>
              <a:buFont typeface="Wingdings" pitchFamily="2" charset="2"/>
              <a:buNone/>
              <a:tabLst>
                <a:tab pos="381000" algn="l"/>
                <a:tab pos="476250" algn="l"/>
                <a:tab pos="882650" algn="l"/>
                <a:tab pos="1290638" algn="l"/>
                <a:tab pos="1698625" algn="l"/>
                <a:tab pos="2106613" algn="l"/>
                <a:tab pos="2513013" algn="l"/>
                <a:tab pos="2921000" algn="l"/>
                <a:tab pos="3328988" algn="l"/>
                <a:tab pos="3735388" algn="l"/>
                <a:tab pos="4143375" algn="l"/>
                <a:tab pos="4551363" algn="l"/>
                <a:tab pos="4959350" algn="l"/>
                <a:tab pos="5365750" algn="l"/>
                <a:tab pos="5773738" algn="l"/>
                <a:tab pos="6181725" algn="l"/>
                <a:tab pos="6588125" algn="l"/>
                <a:tab pos="6996113" algn="l"/>
                <a:tab pos="7404100" algn="l"/>
                <a:tab pos="7812088" algn="l"/>
                <a:tab pos="8218488" algn="l"/>
              </a:tabLst>
              <a:defRPr/>
            </a:pPr>
            <a:r>
              <a:rPr lang="en-US" sz="2000" b="1" dirty="0" err="1"/>
              <a:t>Saída</a:t>
            </a:r>
            <a:r>
              <a:rPr lang="en-US" sz="2000" dirty="0"/>
              <a:t>: </a:t>
            </a:r>
            <a:r>
              <a:rPr lang="en-US" sz="2000" dirty="0" err="1"/>
              <a:t>Salário</a:t>
            </a:r>
            <a:r>
              <a:rPr lang="en-US" sz="2000" dirty="0"/>
              <a:t> (</a:t>
            </a:r>
            <a:r>
              <a:rPr lang="en-US" sz="2000" dirty="0" err="1"/>
              <a:t>acrescido</a:t>
            </a:r>
            <a:r>
              <a:rPr lang="en-US" sz="2000" dirty="0"/>
              <a:t> do valor)</a:t>
            </a:r>
          </a:p>
          <a:p>
            <a:pPr marL="635001" lvl="1" indent="-284163" algn="just" eaLnBrk="1" hangingPunct="1">
              <a:spcAft>
                <a:spcPts val="775"/>
              </a:spcAft>
              <a:buFont typeface="Wingdings" pitchFamily="2" charset="2"/>
              <a:buNone/>
              <a:tabLst>
                <a:tab pos="381000" algn="l"/>
                <a:tab pos="476250" algn="l"/>
                <a:tab pos="882650" algn="l"/>
                <a:tab pos="1290638" algn="l"/>
                <a:tab pos="1698625" algn="l"/>
                <a:tab pos="2106613" algn="l"/>
                <a:tab pos="2513013" algn="l"/>
                <a:tab pos="2921000" algn="l"/>
                <a:tab pos="3328988" algn="l"/>
                <a:tab pos="3735388" algn="l"/>
                <a:tab pos="4143375" algn="l"/>
                <a:tab pos="4551363" algn="l"/>
                <a:tab pos="4959350" algn="l"/>
                <a:tab pos="5365750" algn="l"/>
                <a:tab pos="5773738" algn="l"/>
                <a:tab pos="6181725" algn="l"/>
                <a:tab pos="6588125" algn="l"/>
                <a:tab pos="6996113" algn="l"/>
                <a:tab pos="7404100" algn="l"/>
                <a:tab pos="7812088" algn="l"/>
                <a:tab pos="8218488" algn="l"/>
              </a:tabLst>
              <a:defRPr/>
            </a:pPr>
            <a:r>
              <a:rPr lang="en-US" sz="2000" b="1" dirty="0" err="1"/>
              <a:t>Processamento</a:t>
            </a:r>
            <a:r>
              <a:rPr lang="en-US" sz="2000" dirty="0"/>
              <a:t>:</a:t>
            </a:r>
          </a:p>
          <a:p>
            <a:pPr lvl="1">
              <a:buFont typeface="Verdana" pitchFamily="34" charset="0"/>
              <a:buNone/>
              <a:defRPr/>
            </a:pPr>
            <a:r>
              <a:rPr lang="pt-BR" sz="2000" dirty="0"/>
              <a:t>			1) Ler o salário</a:t>
            </a:r>
            <a:endParaRPr lang="pt-BR" sz="2000" b="1" dirty="0"/>
          </a:p>
          <a:p>
            <a:pPr lvl="1">
              <a:buFont typeface="Verdana" pitchFamily="34" charset="0"/>
              <a:buNone/>
              <a:defRPr/>
            </a:pPr>
            <a:r>
              <a:rPr lang="pt-BR" sz="2000" dirty="0"/>
              <a:t>			2) Somar ao salário o valor de 40 reais</a:t>
            </a:r>
            <a:endParaRPr lang="pt-BR" sz="2000" b="1" dirty="0"/>
          </a:p>
          <a:p>
            <a:pPr lvl="1">
              <a:buFont typeface="Verdana" pitchFamily="34" charset="0"/>
              <a:buNone/>
              <a:defRPr/>
            </a:pPr>
            <a:r>
              <a:rPr lang="pt-BR" sz="2000" dirty="0"/>
              <a:t>			3) Exibir o salário atualizado</a:t>
            </a:r>
            <a:endParaRPr lang="en-US" dirty="0"/>
          </a:p>
          <a:p>
            <a:pPr marL="0" lvl="2" indent="0">
              <a:buFontTx/>
              <a:buNone/>
              <a:defRPr/>
            </a:pPr>
            <a:endParaRPr lang="en-US" sz="2800" dirty="0"/>
          </a:p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102856B-A42C-FF20-3A72-91CF2127B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pt-BR" altLang="pt-BR" sz="2800">
                <a:solidFill>
                  <a:schemeClr val="accent2"/>
                </a:solidFill>
              </a:rPr>
              <a:t>Tudo Começa com a Modelagem dos Dados</a:t>
            </a:r>
            <a:endParaRPr lang="pt-BR" altLang="pt-BR" sz="2800" b="1">
              <a:solidFill>
                <a:schemeClr val="accent2"/>
              </a:solidFill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D516F3-4B18-AC1B-5982-3FE6E3A2C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400">
                <a:solidFill>
                  <a:schemeClr val="accent2"/>
                </a:solidFill>
              </a:rPr>
              <a:t>Motivação:</a:t>
            </a:r>
          </a:p>
          <a:p>
            <a:pPr lvl="2" eaLnBrk="1" hangingPunct="1"/>
            <a:r>
              <a:rPr lang="pt-BR" altLang="pt-BR"/>
              <a:t>MUNDO REAL: </a:t>
            </a:r>
          </a:p>
          <a:p>
            <a:pPr lvl="3" eaLnBrk="1" hangingPunct="1"/>
            <a:r>
              <a:rPr lang="pt-BR" altLang="pt-BR"/>
              <a:t>Objetos/conceitos complexos.</a:t>
            </a:r>
          </a:p>
          <a:p>
            <a:pPr lvl="2" eaLnBrk="1" hangingPunct="1"/>
            <a:r>
              <a:rPr lang="pt-BR" altLang="pt-BR"/>
              <a:t>MODELO:</a:t>
            </a:r>
          </a:p>
          <a:p>
            <a:pPr lvl="3" eaLnBrk="1" hangingPunct="1"/>
            <a:r>
              <a:rPr lang="pt-BR" altLang="pt-BR"/>
              <a:t>Representações que simplificam a realidade.</a:t>
            </a:r>
          </a:p>
          <a:p>
            <a:pPr lvl="3" eaLnBrk="1" hangingPunct="1"/>
            <a:r>
              <a:rPr lang="pt-BR" altLang="pt-BR"/>
              <a:t>Tornam possível o estudo e a manipulação.</a:t>
            </a:r>
          </a:p>
          <a:p>
            <a:pPr lvl="3" eaLnBrk="1" hangingPunct="1"/>
            <a:r>
              <a:rPr lang="pt-BR" altLang="pt-BR"/>
              <a:t>Úteis para um determinado propósito.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C1BA309-6D59-6233-852B-53FD7A12A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>
                <a:solidFill>
                  <a:schemeClr val="accent2"/>
                </a:solidFill>
              </a:rPr>
              <a:t>Do Mundo Real para um Modelo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AA0F72F-655F-7731-42C0-6B9D98BEB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81100"/>
          </a:xfrm>
        </p:spPr>
        <p:txBody>
          <a:bodyPr/>
          <a:lstStyle/>
          <a:p>
            <a:pPr eaLnBrk="1" hangingPunct="1"/>
            <a:r>
              <a:rPr lang="pt-BR" altLang="pt-BR" sz="2400">
                <a:solidFill>
                  <a:schemeClr val="accent2"/>
                </a:solidFill>
              </a:rPr>
              <a:t>Motivação:</a:t>
            </a:r>
          </a:p>
          <a:p>
            <a:pPr lvl="1" eaLnBrk="1" hangingPunct="1"/>
            <a:r>
              <a:rPr lang="pt-BR" altLang="pt-BR" sz="2400" b="1"/>
              <a:t>MODELAGEM DE DADOS:</a:t>
            </a:r>
            <a:endParaRPr lang="pt-BR" altLang="pt-BR" sz="2400" b="1">
              <a:solidFill>
                <a:schemeClr val="accent2"/>
              </a:solidFill>
            </a:endParaRPr>
          </a:p>
        </p:txBody>
      </p:sp>
      <p:sp>
        <p:nvSpPr>
          <p:cNvPr id="11268" name="Text Box 5">
            <a:extLst>
              <a:ext uri="{FF2B5EF4-FFF2-40B4-BE49-F238E27FC236}">
                <a16:creationId xmlns:a16="http://schemas.microsoft.com/office/drawing/2014/main" id="{41A25C72-9123-E296-F40A-ED0A5778F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997200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MUNDO REAL</a:t>
            </a:r>
          </a:p>
        </p:txBody>
      </p:sp>
      <p:sp>
        <p:nvSpPr>
          <p:cNvPr id="11269" name="Text Box 6">
            <a:extLst>
              <a:ext uri="{FF2B5EF4-FFF2-40B4-BE49-F238E27FC236}">
                <a16:creationId xmlns:a16="http://schemas.microsoft.com/office/drawing/2014/main" id="{80B3E6B5-123C-BCC7-580E-BB2D81BC3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288" y="4508500"/>
            <a:ext cx="152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MODELO</a:t>
            </a:r>
          </a:p>
        </p:txBody>
      </p:sp>
      <p:sp>
        <p:nvSpPr>
          <p:cNvPr id="11270" name="Line 7">
            <a:extLst>
              <a:ext uri="{FF2B5EF4-FFF2-40B4-BE49-F238E27FC236}">
                <a16:creationId xmlns:a16="http://schemas.microsoft.com/office/drawing/2014/main" id="{D32AFFC1-B296-28CF-D7D0-DA0EE09F5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3429000"/>
            <a:ext cx="0" cy="1079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1" name="Text Box 8">
            <a:extLst>
              <a:ext uri="{FF2B5EF4-FFF2-40B4-BE49-F238E27FC236}">
                <a16:creationId xmlns:a16="http://schemas.microsoft.com/office/drawing/2014/main" id="{3B3830E3-5BFC-EB3D-FFD4-2A31E0942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153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/>
              <a:t>Simplificação</a:t>
            </a:r>
          </a:p>
        </p:txBody>
      </p:sp>
      <p:grpSp>
        <p:nvGrpSpPr>
          <p:cNvPr id="11272" name="Group 19">
            <a:extLst>
              <a:ext uri="{FF2B5EF4-FFF2-40B4-BE49-F238E27FC236}">
                <a16:creationId xmlns:a16="http://schemas.microsoft.com/office/drawing/2014/main" id="{01C45FAC-9318-D6AB-D9A5-23EC7543865B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3573463"/>
            <a:ext cx="3962400" cy="2376487"/>
            <a:chOff x="2744" y="2251"/>
            <a:chExt cx="2496" cy="1497"/>
          </a:xfrm>
        </p:grpSpPr>
        <p:sp>
          <p:nvSpPr>
            <p:cNvPr id="11274" name="Rectangle 9">
              <a:extLst>
                <a:ext uri="{FF2B5EF4-FFF2-40B4-BE49-F238E27FC236}">
                  <a16:creationId xmlns:a16="http://schemas.microsoft.com/office/drawing/2014/main" id="{FFD80958-0E3D-E6EE-D681-4105CC2B2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251"/>
              <a:ext cx="81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Aluno</a:t>
              </a:r>
            </a:p>
          </p:txBody>
        </p:sp>
        <p:sp>
          <p:nvSpPr>
            <p:cNvPr id="11275" name="Oval 10">
              <a:extLst>
                <a:ext uri="{FF2B5EF4-FFF2-40B4-BE49-F238E27FC236}">
                  <a16:creationId xmlns:a16="http://schemas.microsoft.com/office/drawing/2014/main" id="{C8D2F466-EE10-DD5F-E3CB-6D9B010E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840"/>
              <a:ext cx="772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Nome</a:t>
              </a:r>
            </a:p>
          </p:txBody>
        </p:sp>
        <p:sp>
          <p:nvSpPr>
            <p:cNvPr id="11276" name="Oval 11">
              <a:extLst>
                <a:ext uri="{FF2B5EF4-FFF2-40B4-BE49-F238E27FC236}">
                  <a16:creationId xmlns:a16="http://schemas.microsoft.com/office/drawing/2014/main" id="{D83FE127-B59D-75BE-EE09-164BADDD5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840"/>
              <a:ext cx="772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RA</a:t>
              </a:r>
            </a:p>
          </p:txBody>
        </p:sp>
        <p:sp>
          <p:nvSpPr>
            <p:cNvPr id="11277" name="Oval 12">
              <a:extLst>
                <a:ext uri="{FF2B5EF4-FFF2-40B4-BE49-F238E27FC236}">
                  <a16:creationId xmlns:a16="http://schemas.microsoft.com/office/drawing/2014/main" id="{CBE8C181-DC86-6F31-A9DF-C49115622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385"/>
              <a:ext cx="771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CR</a:t>
              </a:r>
            </a:p>
          </p:txBody>
        </p:sp>
        <p:sp>
          <p:nvSpPr>
            <p:cNvPr id="11278" name="Oval 13">
              <a:extLst>
                <a:ext uri="{FF2B5EF4-FFF2-40B4-BE49-F238E27FC236}">
                  <a16:creationId xmlns:a16="http://schemas.microsoft.com/office/drawing/2014/main" id="{A9F775C0-0A73-B895-852D-45CC20C3B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3385"/>
              <a:ext cx="726" cy="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Sexo</a:t>
              </a:r>
            </a:p>
          </p:txBody>
        </p:sp>
        <p:sp>
          <p:nvSpPr>
            <p:cNvPr id="11279" name="Line 14">
              <a:extLst>
                <a:ext uri="{FF2B5EF4-FFF2-40B4-BE49-F238E27FC236}">
                  <a16:creationId xmlns:a16="http://schemas.microsoft.com/office/drawing/2014/main" id="{5755D81C-B764-03B1-AB98-B94E6AB846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2659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0" name="Line 15">
              <a:extLst>
                <a:ext uri="{FF2B5EF4-FFF2-40B4-BE49-F238E27FC236}">
                  <a16:creationId xmlns:a16="http://schemas.microsoft.com/office/drawing/2014/main" id="{0CD2C3D4-174E-1016-C02E-35B9E55B5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659"/>
              <a:ext cx="272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1" name="Line 16">
              <a:extLst>
                <a:ext uri="{FF2B5EF4-FFF2-40B4-BE49-F238E27FC236}">
                  <a16:creationId xmlns:a16="http://schemas.microsoft.com/office/drawing/2014/main" id="{7E7327FC-F4EB-A11A-4AA7-EAA42331F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659"/>
              <a:ext cx="317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2" name="Line 17">
              <a:extLst>
                <a:ext uri="{FF2B5EF4-FFF2-40B4-BE49-F238E27FC236}">
                  <a16:creationId xmlns:a16="http://schemas.microsoft.com/office/drawing/2014/main" id="{97F6C506-BC71-CB9A-8E88-A51D5CEA8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2659"/>
              <a:ext cx="318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273" name="AutoShape 18">
            <a:extLst>
              <a:ext uri="{FF2B5EF4-FFF2-40B4-BE49-F238E27FC236}">
                <a16:creationId xmlns:a16="http://schemas.microsoft.com/office/drawing/2014/main" id="{EDFA6980-F09E-51CB-9FCF-9DC2E9AE9FDF}"/>
              </a:ext>
            </a:extLst>
          </p:cNvPr>
          <p:cNvSpPr>
            <a:spLocks/>
          </p:cNvSpPr>
          <p:nvPr/>
        </p:nvSpPr>
        <p:spPr bwMode="auto">
          <a:xfrm>
            <a:off x="3203575" y="3429000"/>
            <a:ext cx="1079500" cy="2592388"/>
          </a:xfrm>
          <a:prstGeom prst="leftBrace">
            <a:avLst>
              <a:gd name="adj1" fmla="val 200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314E4F3-6E02-BA48-F3A5-E70FC99F4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>
                <a:solidFill>
                  <a:schemeClr val="accent2"/>
                </a:solidFill>
              </a:rPr>
              <a:t>Modelagem de Problemas Reais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2B9C5A7-9392-FE2C-05A6-DFB8F8544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81100"/>
          </a:xfrm>
        </p:spPr>
        <p:txBody>
          <a:bodyPr/>
          <a:lstStyle/>
          <a:p>
            <a:pPr eaLnBrk="1" hangingPunct="1"/>
            <a:r>
              <a:rPr lang="pt-BR" altLang="pt-BR" sz="2400">
                <a:solidFill>
                  <a:schemeClr val="accent2"/>
                </a:solidFill>
              </a:rPr>
              <a:t>Motivação:</a:t>
            </a:r>
          </a:p>
          <a:p>
            <a:pPr lvl="1" eaLnBrk="1" hangingPunct="1"/>
            <a:r>
              <a:rPr lang="pt-BR" altLang="pt-BR" sz="2400" b="1"/>
              <a:t>MODELAGEM DE DADOS:</a:t>
            </a:r>
            <a:endParaRPr lang="pt-BR" altLang="pt-BR" sz="2400" b="1">
              <a:solidFill>
                <a:schemeClr val="accent2"/>
              </a:solidFill>
            </a:endParaRP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ED63D89F-306E-5AC6-503F-12BE18285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997200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MUNDO REAL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91568575-CEF9-1B95-B5E1-627C6B541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288" y="4508500"/>
            <a:ext cx="152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MODELO</a:t>
            </a:r>
          </a:p>
        </p:txBody>
      </p:sp>
      <p:sp>
        <p:nvSpPr>
          <p:cNvPr id="12294" name="Line 6">
            <a:extLst>
              <a:ext uri="{FF2B5EF4-FFF2-40B4-BE49-F238E27FC236}">
                <a16:creationId xmlns:a16="http://schemas.microsoft.com/office/drawing/2014/main" id="{C1B0F646-FBB5-68D8-DDFF-E3D6654BC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3429000"/>
            <a:ext cx="0" cy="1079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5" name="Text Box 7">
            <a:extLst>
              <a:ext uri="{FF2B5EF4-FFF2-40B4-BE49-F238E27FC236}">
                <a16:creationId xmlns:a16="http://schemas.microsoft.com/office/drawing/2014/main" id="{2B05085A-5095-531E-128C-F4D3AD59B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153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/>
              <a:t>Simplificação</a:t>
            </a:r>
          </a:p>
        </p:txBody>
      </p:sp>
      <p:grpSp>
        <p:nvGrpSpPr>
          <p:cNvPr id="12296" name="Group 8">
            <a:extLst>
              <a:ext uri="{FF2B5EF4-FFF2-40B4-BE49-F238E27FC236}">
                <a16:creationId xmlns:a16="http://schemas.microsoft.com/office/drawing/2014/main" id="{4A4629B5-BA03-957E-CF1D-AF289A261253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3573463"/>
            <a:ext cx="3962400" cy="2376487"/>
            <a:chOff x="2744" y="2251"/>
            <a:chExt cx="2496" cy="1497"/>
          </a:xfrm>
        </p:grpSpPr>
        <p:sp>
          <p:nvSpPr>
            <p:cNvPr id="12300" name="Rectangle 9">
              <a:extLst>
                <a:ext uri="{FF2B5EF4-FFF2-40B4-BE49-F238E27FC236}">
                  <a16:creationId xmlns:a16="http://schemas.microsoft.com/office/drawing/2014/main" id="{D83AB255-B502-BA18-89B8-6B3B368F7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251"/>
              <a:ext cx="81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Aluno</a:t>
              </a:r>
            </a:p>
          </p:txBody>
        </p:sp>
        <p:sp>
          <p:nvSpPr>
            <p:cNvPr id="12301" name="Oval 10">
              <a:extLst>
                <a:ext uri="{FF2B5EF4-FFF2-40B4-BE49-F238E27FC236}">
                  <a16:creationId xmlns:a16="http://schemas.microsoft.com/office/drawing/2014/main" id="{3851E609-7C2D-CCF7-8930-866C8CFF1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840"/>
              <a:ext cx="772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Nome</a:t>
              </a:r>
            </a:p>
          </p:txBody>
        </p:sp>
        <p:sp>
          <p:nvSpPr>
            <p:cNvPr id="12302" name="Oval 11">
              <a:extLst>
                <a:ext uri="{FF2B5EF4-FFF2-40B4-BE49-F238E27FC236}">
                  <a16:creationId xmlns:a16="http://schemas.microsoft.com/office/drawing/2014/main" id="{3E7C8E80-DB6D-FC5A-F6B1-545BA4037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840"/>
              <a:ext cx="772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RA</a:t>
              </a:r>
            </a:p>
          </p:txBody>
        </p:sp>
        <p:sp>
          <p:nvSpPr>
            <p:cNvPr id="12303" name="Oval 12">
              <a:extLst>
                <a:ext uri="{FF2B5EF4-FFF2-40B4-BE49-F238E27FC236}">
                  <a16:creationId xmlns:a16="http://schemas.microsoft.com/office/drawing/2014/main" id="{B48ED7EC-0B19-AEBC-DDF5-E97F1AF71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385"/>
              <a:ext cx="771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CR</a:t>
              </a:r>
            </a:p>
          </p:txBody>
        </p:sp>
        <p:sp>
          <p:nvSpPr>
            <p:cNvPr id="12304" name="Oval 13">
              <a:extLst>
                <a:ext uri="{FF2B5EF4-FFF2-40B4-BE49-F238E27FC236}">
                  <a16:creationId xmlns:a16="http://schemas.microsoft.com/office/drawing/2014/main" id="{3E87D7D5-9405-FAE8-49DE-469ECC160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3385"/>
              <a:ext cx="726" cy="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Sexo</a:t>
              </a:r>
            </a:p>
          </p:txBody>
        </p:sp>
        <p:sp>
          <p:nvSpPr>
            <p:cNvPr id="12305" name="Line 14">
              <a:extLst>
                <a:ext uri="{FF2B5EF4-FFF2-40B4-BE49-F238E27FC236}">
                  <a16:creationId xmlns:a16="http://schemas.microsoft.com/office/drawing/2014/main" id="{170D3C2D-DF3F-809B-3278-FFB9E73B6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2659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6" name="Line 15">
              <a:extLst>
                <a:ext uri="{FF2B5EF4-FFF2-40B4-BE49-F238E27FC236}">
                  <a16:creationId xmlns:a16="http://schemas.microsoft.com/office/drawing/2014/main" id="{9B7B8792-E900-9795-36F5-B503D783B7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659"/>
              <a:ext cx="272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7" name="Line 16">
              <a:extLst>
                <a:ext uri="{FF2B5EF4-FFF2-40B4-BE49-F238E27FC236}">
                  <a16:creationId xmlns:a16="http://schemas.microsoft.com/office/drawing/2014/main" id="{FCB17C14-7595-C063-D9E9-057A026CA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659"/>
              <a:ext cx="317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8" name="Line 17">
              <a:extLst>
                <a:ext uri="{FF2B5EF4-FFF2-40B4-BE49-F238E27FC236}">
                  <a16:creationId xmlns:a16="http://schemas.microsoft.com/office/drawing/2014/main" id="{0E62BD19-2B22-0A49-3C18-2EF13406C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2659"/>
              <a:ext cx="318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297" name="AutoShape 18">
            <a:extLst>
              <a:ext uri="{FF2B5EF4-FFF2-40B4-BE49-F238E27FC236}">
                <a16:creationId xmlns:a16="http://schemas.microsoft.com/office/drawing/2014/main" id="{ED246F29-7858-7784-5A76-32BE64E387A6}"/>
              </a:ext>
            </a:extLst>
          </p:cNvPr>
          <p:cNvSpPr>
            <a:spLocks/>
          </p:cNvSpPr>
          <p:nvPr/>
        </p:nvSpPr>
        <p:spPr bwMode="auto">
          <a:xfrm>
            <a:off x="3203575" y="3429000"/>
            <a:ext cx="1079500" cy="2592388"/>
          </a:xfrm>
          <a:prstGeom prst="leftBrace">
            <a:avLst>
              <a:gd name="adj1" fmla="val 200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12298" name="Oval 22">
            <a:extLst>
              <a:ext uri="{FF2B5EF4-FFF2-40B4-BE49-F238E27FC236}">
                <a16:creationId xmlns:a16="http://schemas.microsoft.com/office/drawing/2014/main" id="{0E283342-FA7B-7A15-8E5D-C7E38B538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1268413"/>
            <a:ext cx="5329237" cy="18732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b="1"/>
              <a:t>Entidade: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Algo que é relevante para o sistema.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Pode estar associada a um elemento concreto,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ou a um conceito “abstrato”.</a:t>
            </a:r>
          </a:p>
        </p:txBody>
      </p:sp>
      <p:sp>
        <p:nvSpPr>
          <p:cNvPr id="12299" name="AutoShape 23">
            <a:extLst>
              <a:ext uri="{FF2B5EF4-FFF2-40B4-BE49-F238E27FC236}">
                <a16:creationId xmlns:a16="http://schemas.microsoft.com/office/drawing/2014/main" id="{3D92486D-DE97-613C-21F0-A378FFF58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3141663"/>
            <a:ext cx="433387" cy="503237"/>
          </a:xfrm>
          <a:prstGeom prst="downArrow">
            <a:avLst>
              <a:gd name="adj1" fmla="val 50120"/>
              <a:gd name="adj2" fmla="val 49581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6125374-EE0C-0FD4-A529-C156AAAF8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>
                <a:solidFill>
                  <a:schemeClr val="accent2"/>
                </a:solidFill>
              </a:rPr>
              <a:t>Simplificação: Ocultando Detalhes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15E3630-751A-2175-E7F2-1B020176A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81100"/>
          </a:xfrm>
        </p:spPr>
        <p:txBody>
          <a:bodyPr/>
          <a:lstStyle/>
          <a:p>
            <a:pPr eaLnBrk="1" hangingPunct="1"/>
            <a:r>
              <a:rPr lang="pt-BR" altLang="pt-BR" sz="2400">
                <a:solidFill>
                  <a:schemeClr val="accent2"/>
                </a:solidFill>
              </a:rPr>
              <a:t>Motivação:</a:t>
            </a:r>
          </a:p>
          <a:p>
            <a:pPr lvl="1" eaLnBrk="1" hangingPunct="1"/>
            <a:r>
              <a:rPr lang="pt-BR" altLang="pt-BR" sz="2400" b="1"/>
              <a:t>MODELAGEM DE DADOS:</a:t>
            </a:r>
            <a:endParaRPr lang="pt-BR" altLang="pt-BR" sz="2400" b="1">
              <a:solidFill>
                <a:schemeClr val="accent2"/>
              </a:solidFill>
            </a:endParaRP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F4B024C0-EEAB-D447-034E-395614F08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997200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MUNDO REAL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2EF46D53-FD46-FCF9-0ACF-5C4D64369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288" y="4508500"/>
            <a:ext cx="152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MODELO</a:t>
            </a:r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01E947BB-027E-0586-07A3-6EAA22ED5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3429000"/>
            <a:ext cx="0" cy="1079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934492F7-EE3F-015F-1AFE-0F502F52F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153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/>
              <a:t>Simplificação</a:t>
            </a:r>
          </a:p>
        </p:txBody>
      </p:sp>
      <p:grpSp>
        <p:nvGrpSpPr>
          <p:cNvPr id="13320" name="Group 8">
            <a:extLst>
              <a:ext uri="{FF2B5EF4-FFF2-40B4-BE49-F238E27FC236}">
                <a16:creationId xmlns:a16="http://schemas.microsoft.com/office/drawing/2014/main" id="{4FD6F5F0-1644-87B6-4CB7-57B252AEB547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3573463"/>
            <a:ext cx="3962400" cy="2376487"/>
            <a:chOff x="2744" y="2251"/>
            <a:chExt cx="2496" cy="1497"/>
          </a:xfrm>
        </p:grpSpPr>
        <p:sp>
          <p:nvSpPr>
            <p:cNvPr id="13327" name="Rectangle 9">
              <a:extLst>
                <a:ext uri="{FF2B5EF4-FFF2-40B4-BE49-F238E27FC236}">
                  <a16:creationId xmlns:a16="http://schemas.microsoft.com/office/drawing/2014/main" id="{29E35012-545B-C9B1-1FE4-40A133AE6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251"/>
              <a:ext cx="81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Aluno</a:t>
              </a:r>
            </a:p>
          </p:txBody>
        </p:sp>
        <p:sp>
          <p:nvSpPr>
            <p:cNvPr id="13328" name="Oval 10">
              <a:extLst>
                <a:ext uri="{FF2B5EF4-FFF2-40B4-BE49-F238E27FC236}">
                  <a16:creationId xmlns:a16="http://schemas.microsoft.com/office/drawing/2014/main" id="{448044AD-BC78-F4C2-21C9-42307573A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840"/>
              <a:ext cx="772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Nome</a:t>
              </a:r>
            </a:p>
          </p:txBody>
        </p:sp>
        <p:sp>
          <p:nvSpPr>
            <p:cNvPr id="13329" name="Oval 11">
              <a:extLst>
                <a:ext uri="{FF2B5EF4-FFF2-40B4-BE49-F238E27FC236}">
                  <a16:creationId xmlns:a16="http://schemas.microsoft.com/office/drawing/2014/main" id="{D536642A-291E-E425-28E1-B82BB9B9C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840"/>
              <a:ext cx="772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RA</a:t>
              </a:r>
            </a:p>
          </p:txBody>
        </p:sp>
        <p:sp>
          <p:nvSpPr>
            <p:cNvPr id="13330" name="Oval 12">
              <a:extLst>
                <a:ext uri="{FF2B5EF4-FFF2-40B4-BE49-F238E27FC236}">
                  <a16:creationId xmlns:a16="http://schemas.microsoft.com/office/drawing/2014/main" id="{21215CA4-95C3-A9D7-1D6A-B5B19F433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385"/>
              <a:ext cx="771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CR</a:t>
              </a:r>
            </a:p>
          </p:txBody>
        </p:sp>
        <p:sp>
          <p:nvSpPr>
            <p:cNvPr id="13331" name="Oval 13">
              <a:extLst>
                <a:ext uri="{FF2B5EF4-FFF2-40B4-BE49-F238E27FC236}">
                  <a16:creationId xmlns:a16="http://schemas.microsoft.com/office/drawing/2014/main" id="{AE901D8A-C35B-C900-23B5-6820E08DD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3385"/>
              <a:ext cx="726" cy="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Sexo</a:t>
              </a:r>
            </a:p>
          </p:txBody>
        </p:sp>
        <p:sp>
          <p:nvSpPr>
            <p:cNvPr id="13332" name="Line 14">
              <a:extLst>
                <a:ext uri="{FF2B5EF4-FFF2-40B4-BE49-F238E27FC236}">
                  <a16:creationId xmlns:a16="http://schemas.microsoft.com/office/drawing/2014/main" id="{A31EC4FF-478A-6116-BB88-0AD27CD04F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2659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3" name="Line 15">
              <a:extLst>
                <a:ext uri="{FF2B5EF4-FFF2-40B4-BE49-F238E27FC236}">
                  <a16:creationId xmlns:a16="http://schemas.microsoft.com/office/drawing/2014/main" id="{1570C56A-A438-52C3-A50E-7C14C23A7D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659"/>
              <a:ext cx="272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4" name="Line 16">
              <a:extLst>
                <a:ext uri="{FF2B5EF4-FFF2-40B4-BE49-F238E27FC236}">
                  <a16:creationId xmlns:a16="http://schemas.microsoft.com/office/drawing/2014/main" id="{9EE039BD-BA49-1983-19C6-05443EAE6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659"/>
              <a:ext cx="317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5" name="Line 17">
              <a:extLst>
                <a:ext uri="{FF2B5EF4-FFF2-40B4-BE49-F238E27FC236}">
                  <a16:creationId xmlns:a16="http://schemas.microsoft.com/office/drawing/2014/main" id="{BDF24D13-7197-E432-875B-99419C861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2659"/>
              <a:ext cx="318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321" name="AutoShape 18">
            <a:extLst>
              <a:ext uri="{FF2B5EF4-FFF2-40B4-BE49-F238E27FC236}">
                <a16:creationId xmlns:a16="http://schemas.microsoft.com/office/drawing/2014/main" id="{35880384-1228-14D0-8DD5-EC69A3D5ACD1}"/>
              </a:ext>
            </a:extLst>
          </p:cNvPr>
          <p:cNvSpPr>
            <a:spLocks/>
          </p:cNvSpPr>
          <p:nvPr/>
        </p:nvSpPr>
        <p:spPr bwMode="auto">
          <a:xfrm>
            <a:off x="3203575" y="3429000"/>
            <a:ext cx="1079500" cy="2592388"/>
          </a:xfrm>
          <a:prstGeom prst="leftBrace">
            <a:avLst>
              <a:gd name="adj1" fmla="val 200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13322" name="Oval 19">
            <a:extLst>
              <a:ext uri="{FF2B5EF4-FFF2-40B4-BE49-F238E27FC236}">
                <a16:creationId xmlns:a16="http://schemas.microsoft.com/office/drawing/2014/main" id="{7F8C7EE2-AD13-9F72-956A-9F101590F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557338"/>
            <a:ext cx="4608513" cy="15843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b="1"/>
              <a:t>Atributos: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Conjunto de propriedade particulares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que descrevem uma entidade .</a:t>
            </a:r>
          </a:p>
        </p:txBody>
      </p:sp>
      <p:sp>
        <p:nvSpPr>
          <p:cNvPr id="13323" name="Line 21">
            <a:extLst>
              <a:ext uri="{FF2B5EF4-FFF2-40B4-BE49-F238E27FC236}">
                <a16:creationId xmlns:a16="http://schemas.microsoft.com/office/drawing/2014/main" id="{25CE504C-7C2A-05DA-37DD-DAB9CDC889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3438" y="2997200"/>
            <a:ext cx="288925" cy="151130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4" name="Line 22">
            <a:extLst>
              <a:ext uri="{FF2B5EF4-FFF2-40B4-BE49-F238E27FC236}">
                <a16:creationId xmlns:a16="http://schemas.microsoft.com/office/drawing/2014/main" id="{2EA8A455-AB8B-AD07-0418-F918EE881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3068638"/>
            <a:ext cx="431800" cy="1439862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5" name="Line 28">
            <a:extLst>
              <a:ext uri="{FF2B5EF4-FFF2-40B4-BE49-F238E27FC236}">
                <a16:creationId xmlns:a16="http://schemas.microsoft.com/office/drawing/2014/main" id="{17377FF4-8FAE-D65B-46CC-CCBC4D145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6688" y="3141663"/>
            <a:ext cx="503237" cy="2232025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6" name="Line 29">
            <a:extLst>
              <a:ext uri="{FF2B5EF4-FFF2-40B4-BE49-F238E27FC236}">
                <a16:creationId xmlns:a16="http://schemas.microsoft.com/office/drawing/2014/main" id="{FA6C88C3-BD2E-EA58-2031-B8EB38ECC2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068638"/>
            <a:ext cx="144463" cy="230505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D1FC6FA-15AF-8680-CAD3-D18C7B9F7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>
                <a:solidFill>
                  <a:schemeClr val="accent2"/>
                </a:solidFill>
              </a:rPr>
              <a:t>             Codificando o Modelo Criado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4FD62DE-49B1-F079-2199-0021CCA11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268413"/>
            <a:ext cx="8229600" cy="1828800"/>
          </a:xfrm>
        </p:spPr>
        <p:txBody>
          <a:bodyPr/>
          <a:lstStyle/>
          <a:p>
            <a:pPr eaLnBrk="1" hangingPunct="1"/>
            <a:r>
              <a:rPr lang="pt-BR" altLang="pt-BR" sz="2400" b="1">
                <a:solidFill>
                  <a:schemeClr val="accent2"/>
                </a:solidFill>
              </a:rPr>
              <a:t>Problema:</a:t>
            </a:r>
          </a:p>
          <a:p>
            <a:pPr lvl="1" eaLnBrk="1" hangingPunct="1"/>
            <a:r>
              <a:rPr lang="pt-BR" altLang="pt-BR" sz="2400"/>
              <a:t>Como representar um modelo em linguagem C?</a:t>
            </a:r>
          </a:p>
          <a:p>
            <a:pPr lvl="2" eaLnBrk="1" hangingPunct="1"/>
            <a:r>
              <a:rPr lang="pt-BR" altLang="pt-BR" sz="2000">
                <a:solidFill>
                  <a:schemeClr val="accent2"/>
                </a:solidFill>
              </a:rPr>
              <a:t>Conjunto de variáveis. 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47468D4F-68D0-DB76-2B41-DC9E986DA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997200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MUNDO REAL</a:t>
            </a:r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891D7E88-D7F6-1C0E-5DF7-C22281E7F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924550"/>
            <a:ext cx="2112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Linguagem C</a:t>
            </a:r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8468D7DD-C6A6-6C18-5C9B-F7F46126E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3429000"/>
            <a:ext cx="0" cy="1079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3" name="Text Box 7">
            <a:extLst>
              <a:ext uri="{FF2B5EF4-FFF2-40B4-BE49-F238E27FC236}">
                <a16:creationId xmlns:a16="http://schemas.microsoft.com/office/drawing/2014/main" id="{77B460B3-3771-7EB0-6E73-D02926640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149850"/>
            <a:ext cx="174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/>
              <a:t>Implementação</a:t>
            </a:r>
          </a:p>
        </p:txBody>
      </p:sp>
      <p:grpSp>
        <p:nvGrpSpPr>
          <p:cNvPr id="14344" name="Group 8">
            <a:extLst>
              <a:ext uri="{FF2B5EF4-FFF2-40B4-BE49-F238E27FC236}">
                <a16:creationId xmlns:a16="http://schemas.microsoft.com/office/drawing/2014/main" id="{9B8B7A5E-2143-B391-AFC5-C20F52254283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3573463"/>
            <a:ext cx="3962400" cy="2376487"/>
            <a:chOff x="2744" y="2251"/>
            <a:chExt cx="2496" cy="1497"/>
          </a:xfrm>
        </p:grpSpPr>
        <p:sp>
          <p:nvSpPr>
            <p:cNvPr id="14352" name="Rectangle 9">
              <a:extLst>
                <a:ext uri="{FF2B5EF4-FFF2-40B4-BE49-F238E27FC236}">
                  <a16:creationId xmlns:a16="http://schemas.microsoft.com/office/drawing/2014/main" id="{74337527-AB02-668F-FEDB-0D9575C42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251"/>
              <a:ext cx="81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Aluno</a:t>
              </a:r>
            </a:p>
          </p:txBody>
        </p:sp>
        <p:sp>
          <p:nvSpPr>
            <p:cNvPr id="14353" name="Oval 10">
              <a:extLst>
                <a:ext uri="{FF2B5EF4-FFF2-40B4-BE49-F238E27FC236}">
                  <a16:creationId xmlns:a16="http://schemas.microsoft.com/office/drawing/2014/main" id="{8DF3ABC3-CBA4-2DAB-9F36-BD67F6E41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840"/>
              <a:ext cx="772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Nome</a:t>
              </a:r>
            </a:p>
          </p:txBody>
        </p:sp>
        <p:sp>
          <p:nvSpPr>
            <p:cNvPr id="14354" name="Oval 11">
              <a:extLst>
                <a:ext uri="{FF2B5EF4-FFF2-40B4-BE49-F238E27FC236}">
                  <a16:creationId xmlns:a16="http://schemas.microsoft.com/office/drawing/2014/main" id="{D508BC4F-2E03-4880-854F-350D5EC78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840"/>
              <a:ext cx="772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RA</a:t>
              </a:r>
            </a:p>
          </p:txBody>
        </p:sp>
        <p:sp>
          <p:nvSpPr>
            <p:cNvPr id="14355" name="Oval 12">
              <a:extLst>
                <a:ext uri="{FF2B5EF4-FFF2-40B4-BE49-F238E27FC236}">
                  <a16:creationId xmlns:a16="http://schemas.microsoft.com/office/drawing/2014/main" id="{C85C5F4A-2F1C-F355-C15C-BA248A3CE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385"/>
              <a:ext cx="771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CR</a:t>
              </a:r>
            </a:p>
          </p:txBody>
        </p:sp>
        <p:sp>
          <p:nvSpPr>
            <p:cNvPr id="14356" name="Oval 13">
              <a:extLst>
                <a:ext uri="{FF2B5EF4-FFF2-40B4-BE49-F238E27FC236}">
                  <a16:creationId xmlns:a16="http://schemas.microsoft.com/office/drawing/2014/main" id="{9AF39EED-37F8-6506-1F8E-2AA30D4CE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3385"/>
              <a:ext cx="726" cy="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Sexo</a:t>
              </a:r>
            </a:p>
          </p:txBody>
        </p:sp>
        <p:sp>
          <p:nvSpPr>
            <p:cNvPr id="14357" name="Line 14">
              <a:extLst>
                <a:ext uri="{FF2B5EF4-FFF2-40B4-BE49-F238E27FC236}">
                  <a16:creationId xmlns:a16="http://schemas.microsoft.com/office/drawing/2014/main" id="{68725C9C-03CC-D844-25F5-FFD9DC4C0E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2659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8" name="Line 15">
              <a:extLst>
                <a:ext uri="{FF2B5EF4-FFF2-40B4-BE49-F238E27FC236}">
                  <a16:creationId xmlns:a16="http://schemas.microsoft.com/office/drawing/2014/main" id="{2434A978-F36D-3EA3-7DB2-C8914AE72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659"/>
              <a:ext cx="272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9" name="Line 16">
              <a:extLst>
                <a:ext uri="{FF2B5EF4-FFF2-40B4-BE49-F238E27FC236}">
                  <a16:creationId xmlns:a16="http://schemas.microsoft.com/office/drawing/2014/main" id="{CE59352A-9627-F5E4-2CBC-A7AFB665E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659"/>
              <a:ext cx="317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0" name="Line 17">
              <a:extLst>
                <a:ext uri="{FF2B5EF4-FFF2-40B4-BE49-F238E27FC236}">
                  <a16:creationId xmlns:a16="http://schemas.microsoft.com/office/drawing/2014/main" id="{65720C30-C144-A0E1-BD94-B8263C434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2659"/>
              <a:ext cx="318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345" name="Line 24">
            <a:extLst>
              <a:ext uri="{FF2B5EF4-FFF2-40B4-BE49-F238E27FC236}">
                <a16:creationId xmlns:a16="http://schemas.microsoft.com/office/drawing/2014/main" id="{08432BBF-B8E6-AF63-C5C9-5B7AF17F44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4941888"/>
            <a:ext cx="0" cy="93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6" name="Text Box 25">
            <a:extLst>
              <a:ext uri="{FF2B5EF4-FFF2-40B4-BE49-F238E27FC236}">
                <a16:creationId xmlns:a16="http://schemas.microsoft.com/office/drawing/2014/main" id="{2C349EDA-F114-8967-D7F6-252D61F72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153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/>
              <a:t>Simplificação</a:t>
            </a:r>
          </a:p>
        </p:txBody>
      </p:sp>
      <p:sp>
        <p:nvSpPr>
          <p:cNvPr id="14347" name="Text Box 26">
            <a:extLst>
              <a:ext uri="{FF2B5EF4-FFF2-40B4-BE49-F238E27FC236}">
                <a16:creationId xmlns:a16="http://schemas.microsoft.com/office/drawing/2014/main" id="{125370FA-20BA-8940-A502-5FA1319E0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288" y="4508500"/>
            <a:ext cx="152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MODELO</a:t>
            </a:r>
          </a:p>
        </p:txBody>
      </p:sp>
      <p:sp>
        <p:nvSpPr>
          <p:cNvPr id="14348" name="Text Box 27">
            <a:extLst>
              <a:ext uri="{FF2B5EF4-FFF2-40B4-BE49-F238E27FC236}">
                <a16:creationId xmlns:a16="http://schemas.microsoft.com/office/drawing/2014/main" id="{58060DFE-2D08-A211-7016-EB4B21CA2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4149725"/>
            <a:ext cx="23034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char nome[100];</a:t>
            </a:r>
          </a:p>
        </p:txBody>
      </p:sp>
      <p:sp>
        <p:nvSpPr>
          <p:cNvPr id="14349" name="Text Box 28">
            <a:extLst>
              <a:ext uri="{FF2B5EF4-FFF2-40B4-BE49-F238E27FC236}">
                <a16:creationId xmlns:a16="http://schemas.microsoft.com/office/drawing/2014/main" id="{C35B9900-65E6-0299-B16F-148B4D1CD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4149725"/>
            <a:ext cx="1654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int ra;</a:t>
            </a:r>
          </a:p>
        </p:txBody>
      </p:sp>
      <p:sp>
        <p:nvSpPr>
          <p:cNvPr id="14350" name="Text Box 29">
            <a:extLst>
              <a:ext uri="{FF2B5EF4-FFF2-40B4-BE49-F238E27FC236}">
                <a16:creationId xmlns:a16="http://schemas.microsoft.com/office/drawing/2014/main" id="{0CCF2761-4349-2044-03ED-2A2DB7BB2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5084763"/>
            <a:ext cx="1654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char sexo;</a:t>
            </a:r>
          </a:p>
        </p:txBody>
      </p:sp>
      <p:sp>
        <p:nvSpPr>
          <p:cNvPr id="14351" name="Text Box 30">
            <a:extLst>
              <a:ext uri="{FF2B5EF4-FFF2-40B4-BE49-F238E27FC236}">
                <a16:creationId xmlns:a16="http://schemas.microsoft.com/office/drawing/2014/main" id="{998A483F-A353-40E2-40F7-363F64518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5084763"/>
            <a:ext cx="1654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float cr;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B520561-6EAA-7B0C-AC2A-CAA6BE133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8" y="0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 sz="3200">
                <a:solidFill>
                  <a:schemeClr val="accent2"/>
                </a:solidFill>
              </a:rPr>
              <a:t>Criando Estruturas que Suportem o Modelo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F65D062-CFE5-5636-337F-416B8FFFB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68400"/>
            <a:ext cx="8229600" cy="1828800"/>
          </a:xfrm>
        </p:spPr>
        <p:txBody>
          <a:bodyPr/>
          <a:lstStyle/>
          <a:p>
            <a:pPr eaLnBrk="1" hangingPunct="1"/>
            <a:r>
              <a:rPr lang="pt-BR" altLang="pt-BR" sz="2400" b="1">
                <a:solidFill>
                  <a:schemeClr val="accent2"/>
                </a:solidFill>
              </a:rPr>
              <a:t>Problema:</a:t>
            </a:r>
          </a:p>
          <a:p>
            <a:pPr lvl="1" eaLnBrk="1" hangingPunct="1"/>
            <a:r>
              <a:rPr lang="pt-BR" altLang="pt-BR" sz="2400"/>
              <a:t>Como representar um modelo em linguagem C?</a:t>
            </a:r>
          </a:p>
          <a:p>
            <a:pPr lvl="2" eaLnBrk="1" hangingPunct="1"/>
            <a:r>
              <a:rPr lang="pt-BR" altLang="pt-BR" sz="2000">
                <a:solidFill>
                  <a:schemeClr val="accent2"/>
                </a:solidFill>
              </a:rPr>
              <a:t>Conjunto de variáveis. </a:t>
            </a:r>
          </a:p>
          <a:p>
            <a:pPr lvl="2" eaLnBrk="1" hangingPunct="1"/>
            <a:r>
              <a:rPr lang="pt-BR" altLang="pt-BR" sz="2000">
                <a:solidFill>
                  <a:schemeClr val="accent2"/>
                </a:solidFill>
              </a:rPr>
              <a:t>Podem ser agrupadas em </a:t>
            </a:r>
            <a:r>
              <a:rPr lang="pt-BR" altLang="pt-BR" sz="2000" b="1" u="sng">
                <a:solidFill>
                  <a:schemeClr val="accent2"/>
                </a:solidFill>
              </a:rPr>
              <a:t>estruturas</a:t>
            </a:r>
            <a:r>
              <a:rPr lang="pt-BR" altLang="pt-BR" sz="200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465AA21A-95A8-8D3D-1D67-D59A1FCB0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997200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MUNDO REAL</a:t>
            </a:r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A7F1A31C-65A2-36BE-C218-7877A95EE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924550"/>
            <a:ext cx="2112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Linguagem C</a:t>
            </a:r>
          </a:p>
        </p:txBody>
      </p:sp>
      <p:sp>
        <p:nvSpPr>
          <p:cNvPr id="15366" name="Line 6">
            <a:extLst>
              <a:ext uri="{FF2B5EF4-FFF2-40B4-BE49-F238E27FC236}">
                <a16:creationId xmlns:a16="http://schemas.microsoft.com/office/drawing/2014/main" id="{37588D16-B80A-003C-ECDC-0975CEF50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3429000"/>
            <a:ext cx="0" cy="1079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7" name="Text Box 7">
            <a:extLst>
              <a:ext uri="{FF2B5EF4-FFF2-40B4-BE49-F238E27FC236}">
                <a16:creationId xmlns:a16="http://schemas.microsoft.com/office/drawing/2014/main" id="{3414C354-F852-BF1E-9A4C-49A182C09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149850"/>
            <a:ext cx="174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/>
              <a:t>Implementação</a:t>
            </a:r>
          </a:p>
        </p:txBody>
      </p:sp>
      <p:grpSp>
        <p:nvGrpSpPr>
          <p:cNvPr id="15368" name="Group 8">
            <a:extLst>
              <a:ext uri="{FF2B5EF4-FFF2-40B4-BE49-F238E27FC236}">
                <a16:creationId xmlns:a16="http://schemas.microsoft.com/office/drawing/2014/main" id="{DC50DAD6-BD49-EB1B-D03A-31EDD0FD1971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3573463"/>
            <a:ext cx="3962400" cy="2376487"/>
            <a:chOff x="2744" y="2251"/>
            <a:chExt cx="2496" cy="1497"/>
          </a:xfrm>
        </p:grpSpPr>
        <p:sp>
          <p:nvSpPr>
            <p:cNvPr id="15377" name="Rectangle 9">
              <a:extLst>
                <a:ext uri="{FF2B5EF4-FFF2-40B4-BE49-F238E27FC236}">
                  <a16:creationId xmlns:a16="http://schemas.microsoft.com/office/drawing/2014/main" id="{DB4CBDAB-DA44-148B-9C84-2417198E9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251"/>
              <a:ext cx="81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Aluno</a:t>
              </a:r>
            </a:p>
          </p:txBody>
        </p:sp>
        <p:sp>
          <p:nvSpPr>
            <p:cNvPr id="15378" name="Oval 10">
              <a:extLst>
                <a:ext uri="{FF2B5EF4-FFF2-40B4-BE49-F238E27FC236}">
                  <a16:creationId xmlns:a16="http://schemas.microsoft.com/office/drawing/2014/main" id="{872DB886-3DBC-197B-C223-5A3736A4B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840"/>
              <a:ext cx="772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Nome</a:t>
              </a:r>
            </a:p>
          </p:txBody>
        </p:sp>
        <p:sp>
          <p:nvSpPr>
            <p:cNvPr id="15379" name="Oval 11">
              <a:extLst>
                <a:ext uri="{FF2B5EF4-FFF2-40B4-BE49-F238E27FC236}">
                  <a16:creationId xmlns:a16="http://schemas.microsoft.com/office/drawing/2014/main" id="{84FB3ECE-7BF0-632A-A32C-01FFEDD3B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840"/>
              <a:ext cx="772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RA</a:t>
              </a:r>
            </a:p>
          </p:txBody>
        </p:sp>
        <p:sp>
          <p:nvSpPr>
            <p:cNvPr id="15380" name="Oval 12">
              <a:extLst>
                <a:ext uri="{FF2B5EF4-FFF2-40B4-BE49-F238E27FC236}">
                  <a16:creationId xmlns:a16="http://schemas.microsoft.com/office/drawing/2014/main" id="{DD2AF14F-DD8C-93CB-AE2F-696EC6916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385"/>
              <a:ext cx="771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CR</a:t>
              </a:r>
            </a:p>
          </p:txBody>
        </p:sp>
        <p:sp>
          <p:nvSpPr>
            <p:cNvPr id="15381" name="Oval 13">
              <a:extLst>
                <a:ext uri="{FF2B5EF4-FFF2-40B4-BE49-F238E27FC236}">
                  <a16:creationId xmlns:a16="http://schemas.microsoft.com/office/drawing/2014/main" id="{652C4E3C-BD2E-4AEA-80B0-C7135F0A5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3385"/>
              <a:ext cx="726" cy="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b="1"/>
                <a:t>Sexo</a:t>
              </a:r>
            </a:p>
          </p:txBody>
        </p:sp>
        <p:sp>
          <p:nvSpPr>
            <p:cNvPr id="15382" name="Line 14">
              <a:extLst>
                <a:ext uri="{FF2B5EF4-FFF2-40B4-BE49-F238E27FC236}">
                  <a16:creationId xmlns:a16="http://schemas.microsoft.com/office/drawing/2014/main" id="{F76F1E33-6840-28C0-134E-06E57328B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2659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3" name="Line 15">
              <a:extLst>
                <a:ext uri="{FF2B5EF4-FFF2-40B4-BE49-F238E27FC236}">
                  <a16:creationId xmlns:a16="http://schemas.microsoft.com/office/drawing/2014/main" id="{D3B8F885-3439-A11F-7049-FBA86C1E2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659"/>
              <a:ext cx="272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4" name="Line 16">
              <a:extLst>
                <a:ext uri="{FF2B5EF4-FFF2-40B4-BE49-F238E27FC236}">
                  <a16:creationId xmlns:a16="http://schemas.microsoft.com/office/drawing/2014/main" id="{6A28E6B0-D167-443A-5B78-8E2FF765D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659"/>
              <a:ext cx="317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5" name="Line 17">
              <a:extLst>
                <a:ext uri="{FF2B5EF4-FFF2-40B4-BE49-F238E27FC236}">
                  <a16:creationId xmlns:a16="http://schemas.microsoft.com/office/drawing/2014/main" id="{A00C5314-0809-DA00-F8C7-4DA65A458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2659"/>
              <a:ext cx="318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369" name="Line 18">
            <a:extLst>
              <a:ext uri="{FF2B5EF4-FFF2-40B4-BE49-F238E27FC236}">
                <a16:creationId xmlns:a16="http://schemas.microsoft.com/office/drawing/2014/main" id="{F8BF6C20-4314-32B4-89DA-2458D3A33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4941888"/>
            <a:ext cx="0" cy="93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70" name="Text Box 19">
            <a:extLst>
              <a:ext uri="{FF2B5EF4-FFF2-40B4-BE49-F238E27FC236}">
                <a16:creationId xmlns:a16="http://schemas.microsoft.com/office/drawing/2014/main" id="{945C908A-3BF1-C5A9-FACE-0F63FFBF1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153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/>
              <a:t>Simplificação</a:t>
            </a:r>
          </a:p>
        </p:txBody>
      </p:sp>
      <p:sp>
        <p:nvSpPr>
          <p:cNvPr id="15371" name="Text Box 20">
            <a:extLst>
              <a:ext uri="{FF2B5EF4-FFF2-40B4-BE49-F238E27FC236}">
                <a16:creationId xmlns:a16="http://schemas.microsoft.com/office/drawing/2014/main" id="{1AC0E004-07F3-3F3B-9F91-B7FDCAF14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288" y="4508500"/>
            <a:ext cx="152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MODELO</a:t>
            </a:r>
          </a:p>
        </p:txBody>
      </p:sp>
      <p:sp>
        <p:nvSpPr>
          <p:cNvPr id="15372" name="Text Box 21">
            <a:extLst>
              <a:ext uri="{FF2B5EF4-FFF2-40B4-BE49-F238E27FC236}">
                <a16:creationId xmlns:a16="http://schemas.microsoft.com/office/drawing/2014/main" id="{A3E75A9B-F9E0-7D2B-F7A9-3245C46DA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4149725"/>
            <a:ext cx="23034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char nome[100];</a:t>
            </a:r>
          </a:p>
        </p:txBody>
      </p:sp>
      <p:sp>
        <p:nvSpPr>
          <p:cNvPr id="15373" name="Text Box 22">
            <a:extLst>
              <a:ext uri="{FF2B5EF4-FFF2-40B4-BE49-F238E27FC236}">
                <a16:creationId xmlns:a16="http://schemas.microsoft.com/office/drawing/2014/main" id="{9B24EE4B-9BCF-6B7F-2794-7DE232412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4149725"/>
            <a:ext cx="1654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int ra;</a:t>
            </a:r>
          </a:p>
        </p:txBody>
      </p:sp>
      <p:sp>
        <p:nvSpPr>
          <p:cNvPr id="15374" name="Text Box 23">
            <a:extLst>
              <a:ext uri="{FF2B5EF4-FFF2-40B4-BE49-F238E27FC236}">
                <a16:creationId xmlns:a16="http://schemas.microsoft.com/office/drawing/2014/main" id="{3FBEEFB8-A7F7-4C50-3CE0-AC728AAE4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5084763"/>
            <a:ext cx="1654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char sexo;</a:t>
            </a:r>
          </a:p>
        </p:txBody>
      </p:sp>
      <p:sp>
        <p:nvSpPr>
          <p:cNvPr id="15375" name="Text Box 24">
            <a:extLst>
              <a:ext uri="{FF2B5EF4-FFF2-40B4-BE49-F238E27FC236}">
                <a16:creationId xmlns:a16="http://schemas.microsoft.com/office/drawing/2014/main" id="{A281EA18-D868-7696-BCC6-6BB2C87D8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5084763"/>
            <a:ext cx="1654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float cr;</a:t>
            </a:r>
          </a:p>
        </p:txBody>
      </p:sp>
      <p:sp>
        <p:nvSpPr>
          <p:cNvPr id="15376" name="Text Box 25">
            <a:extLst>
              <a:ext uri="{FF2B5EF4-FFF2-40B4-BE49-F238E27FC236}">
                <a16:creationId xmlns:a16="http://schemas.microsoft.com/office/drawing/2014/main" id="{8997FC29-2E2B-0C19-29B6-86715D29C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213100"/>
            <a:ext cx="2303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struct Aluno;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E6927BA-1C5A-BAA0-A718-E8794603D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600">
                <a:solidFill>
                  <a:schemeClr val="accent2"/>
                </a:solidFill>
              </a:rPr>
              <a:t>Então, o que é uma Estrutura?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6C7D26E-8C89-F24F-C01E-2CC74E9BE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>
              <a:defRPr/>
            </a:pPr>
            <a:r>
              <a:rPr lang="pt-BR" altLang="pt-BR" sz="2400" b="1" dirty="0">
                <a:solidFill>
                  <a:schemeClr val="accent2"/>
                </a:solidFill>
              </a:rPr>
              <a:t>Definição:</a:t>
            </a:r>
          </a:p>
          <a:p>
            <a:pPr marL="0" indent="0" eaLnBrk="1" hangingPunct="1">
              <a:buFontTx/>
              <a:buNone/>
              <a:defRPr/>
            </a:pPr>
            <a:endParaRPr lang="pt-BR" altLang="pt-BR" sz="2400" b="1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pt-BR" altLang="pt-BR" sz="2400" dirty="0"/>
              <a:t>Uma </a:t>
            </a:r>
            <a:r>
              <a:rPr lang="pt-BR" altLang="pt-BR" sz="2400" u="sng" dirty="0">
                <a:solidFill>
                  <a:srgbClr val="A50021"/>
                </a:solidFill>
              </a:rPr>
              <a:t>estrutura</a:t>
            </a:r>
            <a:r>
              <a:rPr lang="pt-BR" altLang="pt-BR" sz="2400" dirty="0"/>
              <a:t> é um tipo de dado cujo formato é definido pelo programador a afim de resolver um problema.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AF4DB65-6AB1-2178-E844-035EA76C18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pPr eaLnBrk="1" hangingPunct="1"/>
            <a:r>
              <a:rPr lang="pt-BR" altLang="pt-BR" sz="3200">
                <a:solidFill>
                  <a:schemeClr val="accent2"/>
                </a:solidFill>
              </a:rPr>
              <a:t>Exemplo de Modelo Codificado</a:t>
            </a: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8187E58F-FE88-DFEA-C7CD-E6D9F2A11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73125"/>
            <a:ext cx="6192838" cy="5868988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&lt;string.h&gt;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solidFill>
                <a:srgbClr val="0066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nome[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100</a:t>
            </a:r>
            <a:r>
              <a:rPr lang="pt-PT" altLang="pt-BR" sz="1800" b="1"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ra;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float</a:t>
            </a:r>
            <a:r>
              <a:rPr lang="pt-PT" altLang="pt-BR" sz="1800" b="1">
                <a:latin typeface="Courier New" panose="02070309020205020404" pitchFamily="49" charset="0"/>
              </a:rPr>
              <a:t> cr;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sexo;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curso;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main(){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 aluno;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latin typeface="Courier New" panose="02070309020205020404" pitchFamily="49" charset="0"/>
              </a:rPr>
              <a:t>strcpy(aluno.nome,</a:t>
            </a: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“Fulano de Tal"</a:t>
            </a:r>
            <a:r>
              <a:rPr lang="pt-PT" altLang="pt-BR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aluno.ra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123456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aluno.cr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1.0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aluno.sexo =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'M'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aluno.curso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23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return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E7527D3-0673-70FC-5518-9B4D9E976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-31750"/>
            <a:ext cx="8229600" cy="927100"/>
          </a:xfrm>
        </p:spPr>
        <p:txBody>
          <a:bodyPr/>
          <a:lstStyle/>
          <a:p>
            <a:pPr eaLnBrk="1" hangingPunct="1"/>
            <a:r>
              <a:rPr lang="pt-BR" altLang="pt-BR" sz="3200">
                <a:solidFill>
                  <a:schemeClr val="accent2"/>
                </a:solidFill>
              </a:rPr>
              <a:t>Exemplo: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E5C17DF9-0FBC-662C-3124-32270C4D2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73125"/>
            <a:ext cx="6192838" cy="5868988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&lt;string.h&gt;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solidFill>
                <a:srgbClr val="0066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nome[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100</a:t>
            </a:r>
            <a:r>
              <a:rPr lang="pt-PT" altLang="pt-BR" sz="1800" b="1"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ra;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float</a:t>
            </a:r>
            <a:r>
              <a:rPr lang="pt-PT" altLang="pt-BR" sz="1800" b="1">
                <a:latin typeface="Courier New" panose="02070309020205020404" pitchFamily="49" charset="0"/>
              </a:rPr>
              <a:t> cr;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sexo;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curso;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main(){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 aluno;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latin typeface="Courier New" panose="02070309020205020404" pitchFamily="49" charset="0"/>
              </a:rPr>
              <a:t>strcpy(aluno.nome,</a:t>
            </a: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"Fulano da Silva"</a:t>
            </a:r>
            <a:r>
              <a:rPr lang="pt-PT" altLang="pt-BR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aluno.ra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923348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aluno.cr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1.0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aluno.sexo =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'M'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aluno.curso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43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return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8436" name="Oval 4">
            <a:extLst>
              <a:ext uri="{FF2B5EF4-FFF2-40B4-BE49-F238E27FC236}">
                <a16:creationId xmlns:a16="http://schemas.microsoft.com/office/drawing/2014/main" id="{2E8A5F18-8AC1-F2BB-5F8F-B2436ED35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1557338"/>
            <a:ext cx="3635375" cy="2303462"/>
          </a:xfrm>
          <a:prstGeom prst="ellipse">
            <a:avLst/>
          </a:prstGeom>
          <a:solidFill>
            <a:srgbClr val="FFFF99">
              <a:alpha val="20000"/>
            </a:srgbClr>
          </a:solidFill>
          <a:ln w="1905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18437" name="AutoShape 5">
            <a:extLst>
              <a:ext uri="{FF2B5EF4-FFF2-40B4-BE49-F238E27FC236}">
                <a16:creationId xmlns:a16="http://schemas.microsoft.com/office/drawing/2014/main" id="{63DF2BB3-1169-8EF3-B403-238F5B778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692150"/>
            <a:ext cx="5184775" cy="1512888"/>
          </a:xfrm>
          <a:prstGeom prst="wedgeRoundRectCallout">
            <a:avLst>
              <a:gd name="adj1" fmla="val -48532"/>
              <a:gd name="adj2" fmla="val 7476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Definição do formato da estrutura.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Tipo </a:t>
            </a:r>
            <a:r>
              <a:rPr lang="pt-BR" altLang="pt-BR" sz="24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BR" altLang="pt-BR" sz="2400" b="1"/>
              <a:t> é definido.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3F93E99-01E8-EA92-6006-53DD4286C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pPr eaLnBrk="1" hangingPunct="1"/>
            <a:r>
              <a:rPr lang="pt-BR" altLang="pt-BR" sz="2800">
                <a:solidFill>
                  <a:schemeClr val="accent2"/>
                </a:solidFill>
              </a:rPr>
              <a:t>Exemplo de Código</a:t>
            </a: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2EF2113C-9F86-9E33-AD6F-D1BE2B385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73125"/>
            <a:ext cx="6192838" cy="5868988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&lt;string.h&gt;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solidFill>
                <a:srgbClr val="0066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nome[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100</a:t>
            </a:r>
            <a:r>
              <a:rPr lang="pt-PT" altLang="pt-BR" sz="1800" b="1"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ra;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float</a:t>
            </a:r>
            <a:r>
              <a:rPr lang="pt-PT" altLang="pt-BR" sz="1800" b="1">
                <a:latin typeface="Courier New" panose="02070309020205020404" pitchFamily="49" charset="0"/>
              </a:rPr>
              <a:t> cr;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sexo;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curso;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main(){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 aluno;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latin typeface="Courier New" panose="02070309020205020404" pitchFamily="49" charset="0"/>
              </a:rPr>
              <a:t>strcpy(aluno.nome,</a:t>
            </a: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"Fulano da Silva"</a:t>
            </a:r>
            <a:r>
              <a:rPr lang="pt-PT" altLang="pt-BR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aluno.ra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923348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aluno.cr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1.0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aluno.sexo =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'M'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aluno.curso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43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return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460" name="AutoShape 6">
            <a:extLst>
              <a:ext uri="{FF2B5EF4-FFF2-40B4-BE49-F238E27FC236}">
                <a16:creationId xmlns:a16="http://schemas.microsoft.com/office/drawing/2014/main" id="{906FC37F-C956-22FA-7A9C-219D7C3FAD39}"/>
              </a:ext>
            </a:extLst>
          </p:cNvPr>
          <p:cNvSpPr>
            <a:spLocks/>
          </p:cNvSpPr>
          <p:nvPr/>
        </p:nvSpPr>
        <p:spPr bwMode="auto">
          <a:xfrm>
            <a:off x="3348038" y="2133600"/>
            <a:ext cx="360362" cy="1150938"/>
          </a:xfrm>
          <a:prstGeom prst="rightBrace">
            <a:avLst>
              <a:gd name="adj1" fmla="val 2661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2DA8442B-8EA6-9360-8D4F-594719A8B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2420938"/>
            <a:ext cx="2808287" cy="6477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b="1"/>
              <a:t>Membros da estrutura</a:t>
            </a:r>
          </a:p>
        </p:txBody>
      </p:sp>
      <p:sp>
        <p:nvSpPr>
          <p:cNvPr id="19462" name="Line 8">
            <a:extLst>
              <a:ext uri="{FF2B5EF4-FFF2-40B4-BE49-F238E27FC236}">
                <a16:creationId xmlns:a16="http://schemas.microsoft.com/office/drawing/2014/main" id="{40A6A205-0ED6-7FA8-0D67-64494A4E74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538" y="15573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463" name="Line 9">
            <a:extLst>
              <a:ext uri="{FF2B5EF4-FFF2-40B4-BE49-F238E27FC236}">
                <a16:creationId xmlns:a16="http://schemas.microsoft.com/office/drawing/2014/main" id="{52B9F7C6-3CD5-62C5-A93C-432FD8B60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1557338"/>
            <a:ext cx="1582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464" name="Rectangle 10">
            <a:extLst>
              <a:ext uri="{FF2B5EF4-FFF2-40B4-BE49-F238E27FC236}">
                <a16:creationId xmlns:a16="http://schemas.microsoft.com/office/drawing/2014/main" id="{A7FBFF57-1272-8E00-D619-286B82B3F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268413"/>
            <a:ext cx="2952750" cy="6477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b="1"/>
              <a:t>“Etiqueta” da estrutura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EFCA009-4F63-0981-2387-1A8C1AA09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pPr eaLnBrk="1" hangingPunct="1"/>
            <a:r>
              <a:rPr lang="pt-BR" altLang="pt-BR" sz="2800">
                <a:solidFill>
                  <a:schemeClr val="accent2"/>
                </a:solidFill>
              </a:rPr>
              <a:t>Exemplo de Código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163D6F84-984F-DB87-6AC1-84EB5601A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73125"/>
            <a:ext cx="6192838" cy="5868988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&lt;string.h&gt;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solidFill>
                <a:srgbClr val="0066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nome[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100</a:t>
            </a:r>
            <a:r>
              <a:rPr lang="pt-PT" altLang="pt-BR" sz="1800" b="1"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ra;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float</a:t>
            </a:r>
            <a:r>
              <a:rPr lang="pt-PT" altLang="pt-BR" sz="1800" b="1">
                <a:latin typeface="Courier New" panose="02070309020205020404" pitchFamily="49" charset="0"/>
              </a:rPr>
              <a:t> cr;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sexo;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curso;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main(){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 aluno;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latin typeface="Courier New" panose="02070309020205020404" pitchFamily="49" charset="0"/>
              </a:rPr>
              <a:t>strcpy(aluno.nome,</a:t>
            </a: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"Fulano da Silva"</a:t>
            </a:r>
            <a:r>
              <a:rPr lang="pt-PT" altLang="pt-BR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aluno.ra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923348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aluno.cr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1.0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aluno.sexo =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'M'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aluno.curso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43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return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0484" name="Oval 4">
            <a:extLst>
              <a:ext uri="{FF2B5EF4-FFF2-40B4-BE49-F238E27FC236}">
                <a16:creationId xmlns:a16="http://schemas.microsoft.com/office/drawing/2014/main" id="{DB7E917D-8EDE-A713-C748-81938FD19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8" y="4149725"/>
            <a:ext cx="3635375" cy="503238"/>
          </a:xfrm>
          <a:prstGeom prst="ellipse">
            <a:avLst/>
          </a:prstGeom>
          <a:solidFill>
            <a:srgbClr val="FFFF99">
              <a:alpha val="20000"/>
            </a:srgbClr>
          </a:solidFill>
          <a:ln w="1905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0485" name="AutoShape 5">
            <a:extLst>
              <a:ext uri="{FF2B5EF4-FFF2-40B4-BE49-F238E27FC236}">
                <a16:creationId xmlns:a16="http://schemas.microsoft.com/office/drawing/2014/main" id="{507B2AB6-AB0B-53EA-5F0A-063F19015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565400"/>
            <a:ext cx="3960813" cy="1366838"/>
          </a:xfrm>
          <a:prstGeom prst="wedgeRoundRectCallout">
            <a:avLst>
              <a:gd name="adj1" fmla="val -53528"/>
              <a:gd name="adj2" fmla="val 7741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Declaração de uma variável do tipo definido.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5DFBE4F-C38B-26D6-2019-CA60CE0B9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pPr eaLnBrk="1" hangingPunct="1"/>
            <a:r>
              <a:rPr lang="pt-BR" altLang="pt-BR" sz="2800">
                <a:solidFill>
                  <a:schemeClr val="accent2"/>
                </a:solidFill>
              </a:rPr>
              <a:t>Exemplo de Código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3D7AF2D5-D8BB-332B-6A40-FE9C3E6FC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73125"/>
            <a:ext cx="6192838" cy="5868988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#include &lt;string.h&gt;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solidFill>
                <a:srgbClr val="0066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nome[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100</a:t>
            </a:r>
            <a:r>
              <a:rPr lang="pt-PT" altLang="pt-BR" sz="1800" b="1"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ra;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float</a:t>
            </a:r>
            <a:r>
              <a:rPr lang="pt-PT" altLang="pt-BR" sz="1800" b="1">
                <a:latin typeface="Courier New" panose="02070309020205020404" pitchFamily="49" charset="0"/>
              </a:rPr>
              <a:t> cr;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pt-PT" altLang="pt-BR" sz="1800" b="1">
                <a:latin typeface="Courier New" panose="02070309020205020404" pitchFamily="49" charset="0"/>
              </a:rPr>
              <a:t>  sexo;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  curso;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PT" altLang="pt-BR" sz="1800" b="1">
                <a:latin typeface="Courier New" panose="02070309020205020404" pitchFamily="49" charset="0"/>
              </a:rPr>
              <a:t> main(){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solidFill>
                  <a:srgbClr val="660066"/>
                </a:solidFill>
                <a:latin typeface="Courier New" panose="02070309020205020404" pitchFamily="49" charset="0"/>
              </a:rPr>
              <a:t>struct Aluno</a:t>
            </a:r>
            <a:r>
              <a:rPr lang="pt-PT" altLang="pt-BR" sz="1800" b="1">
                <a:latin typeface="Courier New" panose="02070309020205020404" pitchFamily="49" charset="0"/>
              </a:rPr>
              <a:t> aluno;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pt-BR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>
                <a:latin typeface="Courier New" panose="02070309020205020404" pitchFamily="49" charset="0"/>
              </a:rPr>
              <a:t>  </a:t>
            </a:r>
            <a:r>
              <a:rPr lang="pt-PT" altLang="pt-BR" sz="1800" b="1">
                <a:latin typeface="Courier New" panose="02070309020205020404" pitchFamily="49" charset="0"/>
              </a:rPr>
              <a:t>strcpy(aluno.nome,</a:t>
            </a:r>
            <a:r>
              <a:rPr lang="pt-PT" altLang="pt-BR" sz="1800" b="1">
                <a:solidFill>
                  <a:srgbClr val="006600"/>
                </a:solidFill>
                <a:latin typeface="Courier New" panose="02070309020205020404" pitchFamily="49" charset="0"/>
              </a:rPr>
              <a:t>"Fulano da Silva"</a:t>
            </a:r>
            <a:r>
              <a:rPr lang="pt-PT" altLang="pt-BR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aluno.ra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923348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aluno.cr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1.0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aluno.sexo = </a:t>
            </a:r>
            <a:r>
              <a:rPr lang="pt-PT" altLang="pt-BR" sz="1800" b="1">
                <a:solidFill>
                  <a:srgbClr val="0000FF"/>
                </a:solidFill>
                <a:latin typeface="Courier New" panose="02070309020205020404" pitchFamily="49" charset="0"/>
              </a:rPr>
              <a:t>'M'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aluno.curso =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43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  return </a:t>
            </a:r>
            <a:r>
              <a:rPr lang="pt-PT" altLang="pt-BR" sz="1800" b="1">
                <a:solidFill>
                  <a:srgbClr val="CC0000"/>
                </a:solidFill>
                <a:latin typeface="Courier New" panose="02070309020205020404" pitchFamily="49" charset="0"/>
              </a:rPr>
              <a:t>0</a:t>
            </a:r>
            <a:r>
              <a:rPr lang="pt-PT" altLang="pt-BR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pt-BR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1508" name="AutoShape 4">
            <a:extLst>
              <a:ext uri="{FF2B5EF4-FFF2-40B4-BE49-F238E27FC236}">
                <a16:creationId xmlns:a16="http://schemas.microsoft.com/office/drawing/2014/main" id="{8209122C-BD62-AA98-91F0-F8DB4D6D7869}"/>
              </a:ext>
            </a:extLst>
          </p:cNvPr>
          <p:cNvSpPr>
            <a:spLocks/>
          </p:cNvSpPr>
          <p:nvPr/>
        </p:nvSpPr>
        <p:spPr bwMode="auto">
          <a:xfrm>
            <a:off x="6011863" y="4724400"/>
            <a:ext cx="649287" cy="1441450"/>
          </a:xfrm>
          <a:prstGeom prst="rightBrace">
            <a:avLst>
              <a:gd name="adj1" fmla="val 18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EFDF4391-A121-FD65-6ACB-FD48CD22C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636838"/>
            <a:ext cx="3168650" cy="14398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b="1"/>
              <a:t>Acessando membros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b="1"/>
              <a:t>da estrutura.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A50021"/>
                </a:solidFill>
                <a:latin typeface="Courier New" panose="02070309020205020404" pitchFamily="49" charset="0"/>
              </a:rPr>
              <a:t>nome_registro.campo</a:t>
            </a:r>
          </a:p>
        </p:txBody>
      </p:sp>
      <p:sp>
        <p:nvSpPr>
          <p:cNvPr id="21510" name="Line 10">
            <a:extLst>
              <a:ext uri="{FF2B5EF4-FFF2-40B4-BE49-F238E27FC236}">
                <a16:creationId xmlns:a16="http://schemas.microsoft.com/office/drawing/2014/main" id="{3F289397-A243-4703-2D1F-6D1823FC3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1000" y="4149725"/>
            <a:ext cx="504825" cy="12954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>
            <a:extLst>
              <a:ext uri="{FF2B5EF4-FFF2-40B4-BE49-F238E27FC236}">
                <a16:creationId xmlns:a16="http://schemas.microsoft.com/office/drawing/2014/main" id="{123B34EB-38CF-03E5-D792-3B5DFB3B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>
                <a:solidFill>
                  <a:schemeClr val="accent2"/>
                </a:solidFill>
              </a:rPr>
              <a:t>Bibliografia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44F93A-8E40-36D6-4FF6-7D45784BF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pt-BR" sz="2000" b="1" dirty="0"/>
          </a:p>
          <a:p>
            <a:pPr>
              <a:defRPr/>
            </a:pPr>
            <a:r>
              <a:rPr lang="pt-BR" sz="2000" b="1" dirty="0"/>
              <a:t>CORMEN</a:t>
            </a:r>
            <a:r>
              <a:rPr lang="pt-BR" sz="2000" dirty="0"/>
              <a:t>, Herbert. Algoritmos – Teorias e Práticas. 2. ed. Rio de Janeiro: </a:t>
            </a:r>
            <a:r>
              <a:rPr lang="pt-BR" sz="2000" dirty="0" err="1"/>
              <a:t>Elsevier</a:t>
            </a:r>
            <a:r>
              <a:rPr lang="pt-BR" sz="2000" dirty="0"/>
              <a:t>, 2002.</a:t>
            </a:r>
          </a:p>
          <a:p>
            <a:pPr>
              <a:defRPr/>
            </a:pPr>
            <a:endParaRPr lang="pt-BR" sz="2000" dirty="0"/>
          </a:p>
          <a:p>
            <a:pPr>
              <a:defRPr/>
            </a:pPr>
            <a:r>
              <a:rPr lang="pt-BR" sz="2000" b="1" dirty="0"/>
              <a:t>FORBELONE</a:t>
            </a:r>
            <a:r>
              <a:rPr lang="pt-BR" sz="2000" dirty="0"/>
              <a:t>, André e EBERSPÄCHER, Henri. Lógica de Programação. Editora Makron Books. São Paulo</a:t>
            </a:r>
            <a:r>
              <a:rPr lang="pt-BR" sz="2000" b="1" dirty="0"/>
              <a:t>, </a:t>
            </a:r>
            <a:r>
              <a:rPr lang="pt-BR" sz="2000" dirty="0"/>
              <a:t>2008.</a:t>
            </a:r>
          </a:p>
          <a:p>
            <a:pPr marL="0" indent="0">
              <a:buFontTx/>
              <a:buNone/>
              <a:defRPr/>
            </a:pPr>
            <a:endParaRPr lang="pt-BR" sz="2000" dirty="0"/>
          </a:p>
          <a:p>
            <a:pPr>
              <a:defRPr/>
            </a:pPr>
            <a:r>
              <a:rPr lang="pt-BR" sz="2000" b="1" dirty="0"/>
              <a:t>ZIVIANI</a:t>
            </a:r>
            <a:r>
              <a:rPr lang="pt-BR" sz="2000" dirty="0"/>
              <a:t>, N. Projeto de Algoritmos com Implementações em Pascal e C. 2. ed. São Paulo: Pioneira, 2004.</a:t>
            </a:r>
          </a:p>
          <a:p>
            <a:pPr>
              <a:defRPr/>
            </a:pPr>
            <a:endParaRPr lang="pt-BR" sz="2000" dirty="0"/>
          </a:p>
          <a:p>
            <a:pPr marL="0" indent="0">
              <a:buFontTx/>
              <a:buNone/>
              <a:defRPr/>
            </a:pP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</TotalTime>
  <Words>1246</Words>
  <Application>Microsoft Macintosh PowerPoint</Application>
  <PresentationFormat>Apresentação na tela (4:3)</PresentationFormat>
  <Paragraphs>267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Wingdings</vt:lpstr>
      <vt:lpstr>Verdana</vt:lpstr>
      <vt:lpstr>Courier New</vt:lpstr>
      <vt:lpstr>Design padrão</vt:lpstr>
      <vt:lpstr>INTRODUÇÃO À LÓGICA DE PROGRAMAÇÃO</vt:lpstr>
      <vt:lpstr>Objetivos</vt:lpstr>
      <vt:lpstr>Metodologia</vt:lpstr>
      <vt:lpstr>Conteúdos</vt:lpstr>
      <vt:lpstr>Como Tudo Começou?</vt:lpstr>
      <vt:lpstr>Etapas da Resolução de Problemas  Usando um Computador</vt:lpstr>
      <vt:lpstr>Lógica de Programação</vt:lpstr>
      <vt:lpstr>Vejamos um Exemplo</vt:lpstr>
      <vt:lpstr>Tudo Começa com a Modelagem dos Dados</vt:lpstr>
      <vt:lpstr>Do Mundo Real para um Modelo</vt:lpstr>
      <vt:lpstr>Modelagem de Problemas Reais</vt:lpstr>
      <vt:lpstr>Simplificação: Ocultando Detalhes</vt:lpstr>
      <vt:lpstr>             Codificando o Modelo Criado</vt:lpstr>
      <vt:lpstr>Criando Estruturas que Suportem o Modelo</vt:lpstr>
      <vt:lpstr>Então, o que é uma Estrutura?</vt:lpstr>
      <vt:lpstr>Exemplo de Modelo Codificado</vt:lpstr>
      <vt:lpstr>Exemplo:</vt:lpstr>
      <vt:lpstr>Exemplo de Código</vt:lpstr>
      <vt:lpstr>Exemplo de Código</vt:lpstr>
      <vt:lpstr>Exemplo de Código</vt:lpstr>
      <vt:lpstr>Bibliografia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Programação MC102</dc:title>
  <dc:creator>Cliente</dc:creator>
  <cp:lastModifiedBy>William Roberto Malvezzi</cp:lastModifiedBy>
  <cp:revision>98</cp:revision>
  <dcterms:created xsi:type="dcterms:W3CDTF">2007-09-13T17:53:05Z</dcterms:created>
  <dcterms:modified xsi:type="dcterms:W3CDTF">2025-07-26T21:02:13Z</dcterms:modified>
</cp:coreProperties>
</file>