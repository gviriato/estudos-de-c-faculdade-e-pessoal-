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733" r:id="rId2"/>
  </p:sldMasterIdLst>
  <p:sldIdLst>
    <p:sldId id="268" r:id="rId3"/>
    <p:sldId id="256" r:id="rId4"/>
    <p:sldId id="257" r:id="rId5"/>
    <p:sldId id="260" r:id="rId6"/>
    <p:sldId id="261" r:id="rId7"/>
    <p:sldId id="258" r:id="rId8"/>
    <p:sldId id="259" r:id="rId9"/>
    <p:sldId id="262" r:id="rId10"/>
    <p:sldId id="263" r:id="rId11"/>
    <p:sldId id="264" r:id="rId12"/>
    <p:sldId id="265" r:id="rId13"/>
    <p:sldId id="266" r:id="rId1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601A"/>
    <a:srgbClr val="3016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10" autoAdjust="0"/>
    <p:restoredTop sz="94660"/>
  </p:normalViewPr>
  <p:slideViewPr>
    <p:cSldViewPr>
      <p:cViewPr varScale="1">
        <p:scale>
          <a:sx n="81" d="100"/>
          <a:sy n="81" d="100"/>
        </p:scale>
        <p:origin x="763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de cantos arredondados 6"/>
          <p:cNvSpPr/>
          <p:nvPr/>
        </p:nvSpPr>
        <p:spPr>
          <a:xfrm>
            <a:off x="285720" y="142852"/>
            <a:ext cx="8572560" cy="4857784"/>
          </a:xfrm>
          <a:prstGeom prst="roundRect">
            <a:avLst>
              <a:gd name="adj" fmla="val 2353"/>
            </a:avLst>
          </a:prstGeom>
          <a:gradFill>
            <a:gsLst>
              <a:gs pos="0">
                <a:schemeClr val="bg2"/>
              </a:gs>
              <a:gs pos="35000">
                <a:schemeClr val="bg2">
                  <a:lumMod val="90000"/>
                </a:schemeClr>
              </a:gs>
            </a:gsLst>
          </a:gradFill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71500" y="2928934"/>
            <a:ext cx="8001000" cy="1470025"/>
          </a:xfrm>
        </p:spPr>
        <p:txBody>
          <a:bodyPr/>
          <a:lstStyle>
            <a:lvl1pPr algn="ctr">
              <a:defRPr b="0" cap="none" spc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57200" y="5000636"/>
            <a:ext cx="8401080" cy="107157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8FE2-A0C0-4219-8819-47F138731E6E}" type="datetimeFigureOut">
              <a:rPr lang="pt-BR" smtClean="0"/>
              <a:pPr/>
              <a:t>27/02/2020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06E0C-11F2-450E-9DBC-3132A10CE1E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/>
          <p:cNvSpPr/>
          <p:nvPr/>
        </p:nvSpPr>
        <p:spPr>
          <a:xfrm>
            <a:off x="457200" y="274638"/>
            <a:ext cx="8229600" cy="914400"/>
          </a:xfrm>
          <a:prstGeom prst="rect">
            <a:avLst/>
          </a:prstGeom>
          <a:gradFill flip="none" rotWithShape="1">
            <a:gsLst>
              <a:gs pos="32000">
                <a:schemeClr val="bg2"/>
              </a:gs>
              <a:gs pos="100000">
                <a:schemeClr val="bg2">
                  <a:lumMod val="75000"/>
                </a:schemeClr>
              </a:gs>
            </a:gsLst>
            <a:lin ang="5400000" scaled="1"/>
            <a:tileRect/>
          </a:gra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  <a:tileRect/>
            </a:gradFill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rtlCol="0" anchor="ctr"/>
          <a:lstStyle/>
          <a:p>
            <a:endParaRPr lang="en-US" sz="2400" dirty="0">
              <a:solidFill>
                <a:srgbClr val="EEECE1">
                  <a:lumMod val="25000"/>
                </a:srgbClr>
              </a:solidFill>
              <a:latin typeface="Gill Sans MT" pitchFamily="34" charset="0"/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00100" y="274638"/>
            <a:ext cx="7686700" cy="914400"/>
          </a:xfrm>
        </p:spPr>
        <p:txBody>
          <a:bodyPr>
            <a:noAutofit/>
          </a:bodyPr>
          <a:lstStyle>
            <a:lvl1pPr marL="742950" indent="-742950" algn="l">
              <a:buFont typeface="+mj-lt"/>
              <a:buNone/>
              <a:defRPr lang="pt-BR" sz="2800" kern="1200" dirty="0" smtClean="0">
                <a:solidFill>
                  <a:srgbClr val="EEECE1">
                    <a:lumMod val="25000"/>
                  </a:srgbClr>
                </a:solidFill>
                <a:latin typeface="Gill Sans MT" pitchFamily="34" charset="0"/>
                <a:ea typeface="+mn-ea"/>
                <a:cs typeface="+mn-cs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8FE2-A0C0-4219-8819-47F138731E6E}" type="datetimeFigureOut">
              <a:rPr lang="pt-BR" smtClean="0"/>
              <a:pPr/>
              <a:t>27/02/2020</a:t>
            </a:fld>
            <a:endParaRPr lang="pt-BR"/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E06E0C-11F2-450E-9DBC-3132A10CE1E6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9" name="Espaço Reservado para Rodapé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  <p:cxnSp>
        <p:nvCxnSpPr>
          <p:cNvPr id="12" name="Straight Connector 16"/>
          <p:cNvCxnSpPr/>
          <p:nvPr/>
        </p:nvCxnSpPr>
        <p:spPr>
          <a:xfrm rot="5400000">
            <a:off x="542106" y="731044"/>
            <a:ext cx="914400" cy="1588"/>
          </a:xfrm>
          <a:prstGeom prst="line">
            <a:avLst/>
          </a:prstGeom>
          <a:ln w="31750">
            <a:solidFill>
              <a:srgbClr val="FFFF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spaço Reservado para Texto 19"/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274638"/>
            <a:ext cx="514297" cy="914400"/>
          </a:xfrm>
        </p:spPr>
        <p:txBody>
          <a:bodyPr anchor="ctr"/>
          <a:lstStyle>
            <a:lvl1pPr>
              <a:buNone/>
              <a:defRPr lang="pt-BR" sz="5000" kern="1200" dirty="0" smtClean="0">
                <a:solidFill>
                  <a:srgbClr val="EEECE1">
                    <a:lumMod val="75000"/>
                  </a:srgbClr>
                </a:solidFill>
                <a:latin typeface="Calisto MT" pitchFamily="18" charset="0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342900" lvl="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pt-BR" dirty="0"/>
              <a:t>1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8FE2-A0C0-4219-8819-47F138731E6E}" type="datetimeFigureOut">
              <a:rPr lang="pt-BR" smtClean="0"/>
              <a:pPr/>
              <a:t>27/02/2020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06E0C-11F2-450E-9DBC-3132A10CE1E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4" name="Rectangle 5"/>
          <p:cNvSpPr/>
          <p:nvPr/>
        </p:nvSpPr>
        <p:spPr>
          <a:xfrm>
            <a:off x="384464" y="1524000"/>
            <a:ext cx="2743200" cy="914400"/>
          </a:xfrm>
          <a:prstGeom prst="rect">
            <a:avLst/>
          </a:prstGeom>
          <a:gradFill flip="none" rotWithShape="1">
            <a:gsLst>
              <a:gs pos="32000">
                <a:schemeClr val="bg2"/>
              </a:gs>
              <a:gs pos="100000">
                <a:schemeClr val="bg2">
                  <a:lumMod val="75000"/>
                </a:schemeClr>
              </a:gs>
            </a:gsLst>
            <a:lin ang="5400000" scaled="1"/>
            <a:tileRect/>
          </a:gra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  <a:tileRect/>
            </a:gradFill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rtlCol="0" anchor="ctr"/>
          <a:lstStyle/>
          <a:p>
            <a:endParaRPr lang="en-US" sz="2400" dirty="0">
              <a:solidFill>
                <a:srgbClr val="EEECE1">
                  <a:lumMod val="25000"/>
                </a:srgbClr>
              </a:solidFill>
              <a:latin typeface="Gill Sans MT" pitchFamily="34" charset="0"/>
            </a:endParaRPr>
          </a:p>
        </p:txBody>
      </p:sp>
      <p:cxnSp>
        <p:nvCxnSpPr>
          <p:cNvPr id="36" name="Straight Connector 9"/>
          <p:cNvCxnSpPr/>
          <p:nvPr/>
        </p:nvCxnSpPr>
        <p:spPr>
          <a:xfrm rot="5400000">
            <a:off x="728158" y="1980406"/>
            <a:ext cx="685800" cy="1588"/>
          </a:xfrm>
          <a:prstGeom prst="line">
            <a:avLst/>
          </a:prstGeom>
          <a:ln w="31750">
            <a:solidFill>
              <a:srgbClr val="FFFF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10"/>
          <p:cNvSpPr/>
          <p:nvPr/>
        </p:nvSpPr>
        <p:spPr>
          <a:xfrm>
            <a:off x="3238500" y="1524000"/>
            <a:ext cx="2667000" cy="914400"/>
          </a:xfrm>
          <a:prstGeom prst="rect">
            <a:avLst/>
          </a:prstGeom>
          <a:gradFill flip="none" rotWithShape="1">
            <a:gsLst>
              <a:gs pos="32000">
                <a:schemeClr val="bg2"/>
              </a:gs>
              <a:gs pos="100000">
                <a:schemeClr val="bg2">
                  <a:lumMod val="75000"/>
                </a:schemeClr>
              </a:gs>
            </a:gsLst>
            <a:lin ang="5400000" scaled="1"/>
            <a:tileRect/>
          </a:gra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  <a:tileRect/>
            </a:gradFill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rtlCol="0" anchor="ctr"/>
          <a:lstStyle/>
          <a:p>
            <a:endParaRPr lang="en-US" sz="2400" dirty="0">
              <a:solidFill>
                <a:srgbClr val="EEECE1">
                  <a:lumMod val="25000"/>
                </a:srgbClr>
              </a:solidFill>
              <a:latin typeface="Gill Sans MT" pitchFamily="34" charset="0"/>
            </a:endParaRPr>
          </a:p>
        </p:txBody>
      </p:sp>
      <p:cxnSp>
        <p:nvCxnSpPr>
          <p:cNvPr id="39" name="Straight Connector 12"/>
          <p:cNvCxnSpPr/>
          <p:nvPr/>
        </p:nvCxnSpPr>
        <p:spPr>
          <a:xfrm rot="5400000">
            <a:off x="3582194" y="1980406"/>
            <a:ext cx="685800" cy="1588"/>
          </a:xfrm>
          <a:prstGeom prst="line">
            <a:avLst/>
          </a:prstGeom>
          <a:ln w="31750">
            <a:solidFill>
              <a:srgbClr val="FFFF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14"/>
          <p:cNvSpPr/>
          <p:nvPr/>
        </p:nvSpPr>
        <p:spPr>
          <a:xfrm>
            <a:off x="6099464" y="1524000"/>
            <a:ext cx="2667000" cy="914400"/>
          </a:xfrm>
          <a:prstGeom prst="rect">
            <a:avLst/>
          </a:prstGeom>
          <a:gradFill flip="none" rotWithShape="1">
            <a:gsLst>
              <a:gs pos="32000">
                <a:schemeClr val="bg2"/>
              </a:gs>
              <a:gs pos="100000">
                <a:schemeClr val="bg2">
                  <a:lumMod val="75000"/>
                </a:schemeClr>
              </a:gs>
            </a:gsLst>
            <a:lin ang="5400000" scaled="1"/>
            <a:tileRect/>
          </a:gra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  <a:tileRect/>
            </a:gradFill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rtlCol="0" anchor="ctr"/>
          <a:lstStyle/>
          <a:p>
            <a:endParaRPr lang="en-US" sz="2400" dirty="0">
              <a:solidFill>
                <a:srgbClr val="EEECE1">
                  <a:lumMod val="25000"/>
                </a:srgbClr>
              </a:solidFill>
              <a:latin typeface="Gill Sans MT" pitchFamily="34" charset="0"/>
            </a:endParaRPr>
          </a:p>
        </p:txBody>
      </p:sp>
      <p:cxnSp>
        <p:nvCxnSpPr>
          <p:cNvPr id="42" name="Straight Connector 16"/>
          <p:cNvCxnSpPr/>
          <p:nvPr/>
        </p:nvCxnSpPr>
        <p:spPr>
          <a:xfrm rot="5400000">
            <a:off x="6443158" y="1980406"/>
            <a:ext cx="685800" cy="1588"/>
          </a:xfrm>
          <a:prstGeom prst="line">
            <a:avLst/>
          </a:prstGeom>
          <a:ln w="31750">
            <a:solidFill>
              <a:srgbClr val="FFFF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Espaço Reservado para Texto 54"/>
          <p:cNvSpPr>
            <a:spLocks noGrp="1"/>
          </p:cNvSpPr>
          <p:nvPr>
            <p:ph type="body" sz="quarter" idx="14" hasCustomPrompt="1"/>
          </p:nvPr>
        </p:nvSpPr>
        <p:spPr>
          <a:xfrm>
            <a:off x="1055962" y="1533532"/>
            <a:ext cx="2071702" cy="904868"/>
          </a:xfrm>
          <a:noFill/>
        </p:spPr>
        <p:txBody>
          <a:bodyPr anchor="ctr"/>
          <a:lstStyle>
            <a:lvl1pPr>
              <a:buNone/>
              <a:defRPr lang="pt-BR" sz="2400" kern="1200" dirty="0" smtClean="0">
                <a:solidFill>
                  <a:srgbClr val="EEECE1">
                    <a:lumMod val="25000"/>
                  </a:srgbClr>
                </a:solidFill>
                <a:latin typeface="Gill Sans MT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pt-BR" dirty="0"/>
              <a:t>Titulo 1</a:t>
            </a:r>
          </a:p>
        </p:txBody>
      </p:sp>
      <p:sp>
        <p:nvSpPr>
          <p:cNvPr id="56" name="Espaço Reservado para Texto 54"/>
          <p:cNvSpPr>
            <a:spLocks noGrp="1"/>
          </p:cNvSpPr>
          <p:nvPr>
            <p:ph type="body" sz="quarter" idx="15" hasCustomPrompt="1"/>
          </p:nvPr>
        </p:nvSpPr>
        <p:spPr>
          <a:xfrm>
            <a:off x="3925888" y="1524000"/>
            <a:ext cx="2003434" cy="904868"/>
          </a:xfrm>
          <a:noFill/>
        </p:spPr>
        <p:txBody>
          <a:bodyPr anchor="ctr"/>
          <a:lstStyle>
            <a:lvl1pPr>
              <a:buNone/>
              <a:defRPr lang="pt-BR" sz="2400" kern="1200" dirty="0" smtClean="0">
                <a:solidFill>
                  <a:srgbClr val="EEECE1">
                    <a:lumMod val="25000"/>
                  </a:srgbClr>
                </a:solidFill>
                <a:latin typeface="Gill Sans MT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pt-BR" dirty="0"/>
              <a:t>Titulo 2</a:t>
            </a:r>
          </a:p>
        </p:txBody>
      </p:sp>
      <p:sp>
        <p:nvSpPr>
          <p:cNvPr id="57" name="Espaço Reservado para Texto 54"/>
          <p:cNvSpPr>
            <a:spLocks noGrp="1"/>
          </p:cNvSpPr>
          <p:nvPr>
            <p:ph type="body" sz="quarter" idx="16" hasCustomPrompt="1"/>
          </p:nvPr>
        </p:nvSpPr>
        <p:spPr>
          <a:xfrm>
            <a:off x="6786852" y="1524000"/>
            <a:ext cx="1999990" cy="904868"/>
          </a:xfrm>
        </p:spPr>
        <p:txBody>
          <a:bodyPr anchor="ctr"/>
          <a:lstStyle>
            <a:lvl1pPr>
              <a:buNone/>
              <a:defRPr lang="pt-BR" sz="2400" kern="1200" dirty="0" smtClean="0">
                <a:solidFill>
                  <a:srgbClr val="EEECE1">
                    <a:lumMod val="25000"/>
                  </a:srgbClr>
                </a:solidFill>
                <a:latin typeface="Gill Sans MT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pt-BR" dirty="0"/>
              <a:t>Titulo 3</a:t>
            </a:r>
          </a:p>
        </p:txBody>
      </p:sp>
      <p:sp>
        <p:nvSpPr>
          <p:cNvPr id="59" name="Espaço Reservado para Texto 58"/>
          <p:cNvSpPr>
            <a:spLocks noGrp="1"/>
          </p:cNvSpPr>
          <p:nvPr>
            <p:ph type="body" sz="quarter" idx="17"/>
          </p:nvPr>
        </p:nvSpPr>
        <p:spPr>
          <a:xfrm>
            <a:off x="384464" y="2428868"/>
            <a:ext cx="2743200" cy="3888000"/>
          </a:xfrm>
          <a:gradFill flip="none" rotWithShape="1">
            <a:gsLst>
              <a:gs pos="0">
                <a:schemeClr val="bg1">
                  <a:alpha val="0"/>
                </a:schemeClr>
              </a:gs>
              <a:gs pos="50000">
                <a:schemeClr val="bg2">
                  <a:lumMod val="90000"/>
                  <a:alpha val="7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 anchorCtr="0"/>
          <a:lstStyle>
            <a:lvl1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1pPr>
            <a:lvl2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2pPr>
            <a:lvl3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3pPr>
            <a:lvl4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4pPr>
            <a:lvl5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60" name="Espaço Reservado para Texto 58"/>
          <p:cNvSpPr>
            <a:spLocks noGrp="1"/>
          </p:cNvSpPr>
          <p:nvPr>
            <p:ph type="body" sz="quarter" idx="18"/>
          </p:nvPr>
        </p:nvSpPr>
        <p:spPr>
          <a:xfrm>
            <a:off x="3238500" y="2428868"/>
            <a:ext cx="2690822" cy="3929090"/>
          </a:xfrm>
          <a:gradFill flip="none" rotWithShape="1">
            <a:gsLst>
              <a:gs pos="0">
                <a:schemeClr val="bg1">
                  <a:alpha val="0"/>
                </a:schemeClr>
              </a:gs>
              <a:gs pos="50000">
                <a:schemeClr val="bg2">
                  <a:lumMod val="90000"/>
                  <a:alpha val="7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 anchorCtr="0"/>
          <a:lstStyle>
            <a:lvl1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1pPr>
            <a:lvl2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2pPr>
            <a:lvl3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3pPr>
            <a:lvl4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4pPr>
            <a:lvl5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61" name="Espaço Reservado para Texto 58"/>
          <p:cNvSpPr>
            <a:spLocks noGrp="1"/>
          </p:cNvSpPr>
          <p:nvPr>
            <p:ph type="body" sz="quarter" idx="19"/>
          </p:nvPr>
        </p:nvSpPr>
        <p:spPr>
          <a:xfrm>
            <a:off x="6092576" y="2438400"/>
            <a:ext cx="2694266" cy="3835374"/>
          </a:xfrm>
          <a:gradFill flip="none" rotWithShape="1">
            <a:gsLst>
              <a:gs pos="0">
                <a:schemeClr val="bg1">
                  <a:alpha val="0"/>
                </a:schemeClr>
              </a:gs>
              <a:gs pos="50000">
                <a:schemeClr val="bg2">
                  <a:lumMod val="90000"/>
                  <a:alpha val="7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 anchorCtr="0"/>
          <a:lstStyle>
            <a:lvl1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1pPr>
            <a:lvl2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2pPr>
            <a:lvl3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3pPr>
            <a:lvl4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4pPr>
            <a:lvl5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63" name="Espaço Reservado para Texto 62"/>
          <p:cNvSpPr>
            <a:spLocks noGrp="1"/>
          </p:cNvSpPr>
          <p:nvPr>
            <p:ph type="body" sz="quarter" idx="20" hasCustomPrompt="1"/>
          </p:nvPr>
        </p:nvSpPr>
        <p:spPr>
          <a:xfrm>
            <a:off x="384464" y="1524000"/>
            <a:ext cx="671498" cy="861774"/>
          </a:xfrm>
        </p:spPr>
        <p:txBody>
          <a:bodyPr anchor="ctr">
            <a:noAutofit/>
          </a:bodyPr>
          <a:lstStyle>
            <a:lvl1pPr marL="0" algn="ctr" defTabSz="914400" rtl="0" eaLnBrk="1" latinLnBrk="0" hangingPunct="1">
              <a:buNone/>
              <a:defRPr lang="pt-BR" sz="5000" kern="1200" dirty="0">
                <a:solidFill>
                  <a:srgbClr val="EEECE1">
                    <a:lumMod val="75000"/>
                  </a:srgbClr>
                </a:solidFill>
                <a:latin typeface="Calisto MT" pitchFamily="18" charset="0"/>
                <a:ea typeface="+mn-ea"/>
                <a:cs typeface="+mn-cs"/>
              </a:defRPr>
            </a:lvl1pPr>
          </a:lstStyle>
          <a:p>
            <a:pPr lvl="0"/>
            <a:r>
              <a:rPr lang="pt-BR" dirty="0"/>
              <a:t>1</a:t>
            </a:r>
          </a:p>
        </p:txBody>
      </p:sp>
      <p:sp>
        <p:nvSpPr>
          <p:cNvPr id="64" name="Espaço Reservado para Texto 62"/>
          <p:cNvSpPr>
            <a:spLocks noGrp="1"/>
          </p:cNvSpPr>
          <p:nvPr>
            <p:ph type="body" sz="quarter" idx="21" hasCustomPrompt="1"/>
          </p:nvPr>
        </p:nvSpPr>
        <p:spPr>
          <a:xfrm>
            <a:off x="3254390" y="1524000"/>
            <a:ext cx="671498" cy="861774"/>
          </a:xfrm>
        </p:spPr>
        <p:txBody>
          <a:bodyPr anchor="ctr">
            <a:noAutofit/>
          </a:bodyPr>
          <a:lstStyle>
            <a:lvl1pPr marL="0" algn="ctr" defTabSz="914400" rtl="0" eaLnBrk="1" latinLnBrk="0" hangingPunct="1">
              <a:buNone/>
              <a:defRPr lang="pt-BR" sz="5000" kern="1200" dirty="0">
                <a:solidFill>
                  <a:srgbClr val="EEECE1">
                    <a:lumMod val="75000"/>
                  </a:srgbClr>
                </a:solidFill>
                <a:latin typeface="Calisto MT" pitchFamily="18" charset="0"/>
                <a:ea typeface="+mn-ea"/>
                <a:cs typeface="+mn-cs"/>
              </a:defRPr>
            </a:lvl1pPr>
          </a:lstStyle>
          <a:p>
            <a:pPr lvl="0"/>
            <a:r>
              <a:rPr lang="pt-BR" dirty="0"/>
              <a:t>1</a:t>
            </a:r>
          </a:p>
        </p:txBody>
      </p:sp>
      <p:sp>
        <p:nvSpPr>
          <p:cNvPr id="65" name="Espaço Reservado para Texto 62"/>
          <p:cNvSpPr>
            <a:spLocks noGrp="1"/>
          </p:cNvSpPr>
          <p:nvPr>
            <p:ph type="body" sz="quarter" idx="22" hasCustomPrompt="1"/>
          </p:nvPr>
        </p:nvSpPr>
        <p:spPr>
          <a:xfrm>
            <a:off x="6092576" y="1524000"/>
            <a:ext cx="671498" cy="861774"/>
          </a:xfrm>
        </p:spPr>
        <p:txBody>
          <a:bodyPr anchor="ctr">
            <a:noAutofit/>
          </a:bodyPr>
          <a:lstStyle>
            <a:lvl1pPr marL="0" algn="ctr" defTabSz="914400" rtl="0" eaLnBrk="1" latinLnBrk="0" hangingPunct="1">
              <a:buNone/>
              <a:defRPr lang="pt-BR" sz="5000" kern="1200" dirty="0">
                <a:solidFill>
                  <a:srgbClr val="EEECE1">
                    <a:lumMod val="75000"/>
                  </a:srgbClr>
                </a:solidFill>
                <a:latin typeface="Calisto MT" pitchFamily="18" charset="0"/>
                <a:ea typeface="+mn-ea"/>
                <a:cs typeface="+mn-cs"/>
              </a:defRPr>
            </a:lvl1pPr>
          </a:lstStyle>
          <a:p>
            <a:pPr lvl="0"/>
            <a:r>
              <a:rPr lang="pt-BR" dirty="0"/>
              <a:t>1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31812" y="2143116"/>
            <a:ext cx="4040188" cy="3951288"/>
          </a:xfrm>
          <a:gradFill flip="none" rotWithShape="1">
            <a:gsLst>
              <a:gs pos="0">
                <a:schemeClr val="bg1">
                  <a:alpha val="0"/>
                </a:schemeClr>
              </a:gs>
              <a:gs pos="50000">
                <a:schemeClr val="bg2">
                  <a:lumMod val="90000"/>
                  <a:alpha val="7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91440" rIns="91440" bIns="45720" rtlCol="0" anchor="t" anchorCtr="0">
            <a:normAutofit/>
          </a:bodyPr>
          <a:lstStyle>
            <a:lvl1pPr algn="l" defTabSz="914400" rtl="0" eaLnBrk="1" latinLnBrk="0" hangingPunct="1">
              <a:spcBef>
                <a:spcPct val="20000"/>
              </a:spcBef>
              <a:buFont typeface="Arial" pitchFamily="34" charset="0"/>
              <a:defRPr lang="pt-BR" sz="2000" kern="120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1pPr>
            <a:lvl2pPr algn="l" defTabSz="914400" rtl="0" eaLnBrk="1" latinLnBrk="0" hangingPunct="1">
              <a:spcBef>
                <a:spcPct val="20000"/>
              </a:spcBef>
              <a:buFont typeface="Arial" pitchFamily="34" charset="0"/>
              <a:defRPr lang="pt-BR" sz="2000" kern="120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2pPr>
            <a:lvl3pPr algn="l" defTabSz="914400" rtl="0" eaLnBrk="1" latinLnBrk="0" hangingPunct="1">
              <a:spcBef>
                <a:spcPct val="20000"/>
              </a:spcBef>
              <a:buFont typeface="Arial" pitchFamily="34" charset="0"/>
              <a:defRPr lang="pt-BR" sz="2000" kern="120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3pPr>
            <a:lvl4pPr algn="l" defTabSz="914400" rtl="0" eaLnBrk="1" latinLnBrk="0" hangingPunct="1">
              <a:spcBef>
                <a:spcPct val="20000"/>
              </a:spcBef>
              <a:buFont typeface="Arial" pitchFamily="34" charset="0"/>
              <a:defRPr lang="pt-BR" sz="2000" kern="120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4pPr>
            <a:lvl5pPr algn="l" defTabSz="914400" rtl="0" eaLnBrk="1" latinLnBrk="0" hangingPunct="1">
              <a:spcBef>
                <a:spcPct val="20000"/>
              </a:spcBef>
              <a:buFont typeface="Arial" pitchFamily="34" charset="0"/>
              <a:defRPr lang="pt-BR" sz="20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gradFill flip="none" rotWithShape="1">
            <a:gsLst>
              <a:gs pos="0">
                <a:schemeClr val="bg1">
                  <a:alpha val="0"/>
                </a:schemeClr>
              </a:gs>
              <a:gs pos="50000">
                <a:schemeClr val="bg2">
                  <a:lumMod val="90000"/>
                  <a:alpha val="7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91440" rIns="91440" bIns="45720" rtlCol="0" anchor="t" anchorCtr="0">
            <a:normAutofit/>
          </a:bodyPr>
          <a:lstStyle>
            <a:lvl1pPr algn="l" defTabSz="914400" rtl="0" eaLnBrk="1" latinLnBrk="0" hangingPunct="1">
              <a:spcBef>
                <a:spcPct val="20000"/>
              </a:spcBef>
              <a:buFont typeface="Arial" pitchFamily="34" charset="0"/>
              <a:defRPr lang="pt-BR" sz="2000" kern="120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1pPr>
            <a:lvl2pPr algn="l" defTabSz="914400" rtl="0" eaLnBrk="1" latinLnBrk="0" hangingPunct="1">
              <a:spcBef>
                <a:spcPct val="20000"/>
              </a:spcBef>
              <a:buFont typeface="Arial" pitchFamily="34" charset="0"/>
              <a:defRPr lang="pt-BR" sz="2000" kern="120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2pPr>
            <a:lvl3pPr algn="l" defTabSz="914400" rtl="0" eaLnBrk="1" latinLnBrk="0" hangingPunct="1">
              <a:spcBef>
                <a:spcPct val="20000"/>
              </a:spcBef>
              <a:buFont typeface="Arial" pitchFamily="34" charset="0"/>
              <a:defRPr lang="pt-BR" sz="2000" kern="120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3pPr>
            <a:lvl4pPr algn="l" defTabSz="914400" rtl="0" eaLnBrk="1" latinLnBrk="0" hangingPunct="1">
              <a:spcBef>
                <a:spcPct val="20000"/>
              </a:spcBef>
              <a:buFont typeface="Arial" pitchFamily="34" charset="0"/>
              <a:defRPr lang="pt-BR" sz="2000" kern="120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4pPr>
            <a:lvl5pPr algn="l" defTabSz="914400" rtl="0" eaLnBrk="1" latinLnBrk="0" hangingPunct="1">
              <a:spcBef>
                <a:spcPct val="20000"/>
              </a:spcBef>
              <a:buFont typeface="Arial" pitchFamily="34" charset="0"/>
              <a:defRPr lang="pt-BR" sz="2000" kern="120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8FE2-A0C0-4219-8819-47F138731E6E}" type="datetimeFigureOut">
              <a:rPr lang="pt-BR" smtClean="0"/>
              <a:pPr/>
              <a:t>27/02/2020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06E0C-11F2-450E-9DBC-3132A10CE1E6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0" name="Rectangle 5"/>
          <p:cNvSpPr/>
          <p:nvPr/>
        </p:nvSpPr>
        <p:spPr>
          <a:xfrm>
            <a:off x="531812" y="1417638"/>
            <a:ext cx="4040188" cy="757237"/>
          </a:xfrm>
          <a:prstGeom prst="rect">
            <a:avLst/>
          </a:prstGeom>
          <a:gradFill flip="none" rotWithShape="1">
            <a:gsLst>
              <a:gs pos="32000">
                <a:schemeClr val="bg2"/>
              </a:gs>
              <a:gs pos="100000">
                <a:schemeClr val="bg2">
                  <a:lumMod val="75000"/>
                </a:schemeClr>
              </a:gs>
            </a:gsLst>
            <a:lin ang="5400000" scaled="1"/>
            <a:tileRect/>
          </a:gra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  <a:tileRect/>
            </a:gradFill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rtlCol="0" anchor="ctr"/>
          <a:lstStyle/>
          <a:p>
            <a:endParaRPr lang="en-US" sz="2400" dirty="0">
              <a:solidFill>
                <a:srgbClr val="EEECE1">
                  <a:lumMod val="25000"/>
                </a:srgbClr>
              </a:solidFill>
              <a:latin typeface="Gill Sans MT" pitchFamily="34" charset="0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457176" y="1357298"/>
            <a:ext cx="685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dirty="0">
                <a:solidFill>
                  <a:srgbClr val="EEECE1">
                    <a:lumMod val="75000"/>
                  </a:srgbClr>
                </a:solidFill>
                <a:latin typeface="Calisto MT" pitchFamily="18" charset="0"/>
              </a:rPr>
              <a:t>1</a:t>
            </a:r>
          </a:p>
        </p:txBody>
      </p:sp>
      <p:cxnSp>
        <p:nvCxnSpPr>
          <p:cNvPr id="12" name="Straight Connector 9"/>
          <p:cNvCxnSpPr/>
          <p:nvPr/>
        </p:nvCxnSpPr>
        <p:spPr>
          <a:xfrm rot="5400000">
            <a:off x="729432" y="1799422"/>
            <a:ext cx="685800" cy="1588"/>
          </a:xfrm>
          <a:prstGeom prst="line">
            <a:avLst/>
          </a:prstGeom>
          <a:ln w="31750">
            <a:solidFill>
              <a:srgbClr val="FFFF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73127" y="1428736"/>
            <a:ext cx="3424262" cy="717559"/>
          </a:xfr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9144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pt-BR" sz="2400" kern="1200" dirty="0" smtClean="0">
                <a:solidFill>
                  <a:srgbClr val="EEECE1">
                    <a:lumMod val="25000"/>
                  </a:srgbClr>
                </a:solidFill>
                <a:latin typeface="Gill Sans MT" pitchFamily="34" charset="0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14" name="Rectangle 5"/>
          <p:cNvSpPr/>
          <p:nvPr/>
        </p:nvSpPr>
        <p:spPr>
          <a:xfrm>
            <a:off x="4645025" y="1417638"/>
            <a:ext cx="4041775" cy="757237"/>
          </a:xfrm>
          <a:prstGeom prst="rect">
            <a:avLst/>
          </a:prstGeom>
          <a:gradFill flip="none" rotWithShape="1">
            <a:gsLst>
              <a:gs pos="32000">
                <a:schemeClr val="bg2"/>
              </a:gs>
              <a:gs pos="100000">
                <a:schemeClr val="bg2">
                  <a:lumMod val="75000"/>
                </a:schemeClr>
              </a:gs>
            </a:gsLst>
            <a:lin ang="5400000" scaled="1"/>
            <a:tileRect/>
          </a:gra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  <a:tileRect/>
            </a:gradFill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rtlCol="0" anchor="ctr"/>
          <a:lstStyle/>
          <a:p>
            <a:endParaRPr lang="en-US" sz="2400" dirty="0">
              <a:solidFill>
                <a:srgbClr val="EEECE1">
                  <a:lumMod val="25000"/>
                </a:srgbClr>
              </a:solidFill>
              <a:latin typeface="Gill Sans MT" pitchFamily="34" charset="0"/>
            </a:endParaRPr>
          </a:p>
        </p:txBody>
      </p:sp>
      <p:sp>
        <p:nvSpPr>
          <p:cNvPr id="15" name="TextBox 7"/>
          <p:cNvSpPr txBox="1"/>
          <p:nvPr/>
        </p:nvSpPr>
        <p:spPr>
          <a:xfrm>
            <a:off x="4572000" y="1357298"/>
            <a:ext cx="685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dirty="0">
                <a:solidFill>
                  <a:srgbClr val="EEECE1">
                    <a:lumMod val="75000"/>
                  </a:srgbClr>
                </a:solidFill>
                <a:latin typeface="Calisto MT" pitchFamily="18" charset="0"/>
              </a:rPr>
              <a:t>2</a:t>
            </a:r>
          </a:p>
        </p:txBody>
      </p:sp>
      <p:cxnSp>
        <p:nvCxnSpPr>
          <p:cNvPr id="16" name="Straight Connector 9"/>
          <p:cNvCxnSpPr/>
          <p:nvPr/>
        </p:nvCxnSpPr>
        <p:spPr>
          <a:xfrm rot="5400000">
            <a:off x="4872836" y="1799422"/>
            <a:ext cx="685800" cy="1588"/>
          </a:xfrm>
          <a:prstGeom prst="line">
            <a:avLst/>
          </a:prstGeom>
          <a:ln w="31750">
            <a:solidFill>
              <a:srgbClr val="FFFF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spaço Reservado para Texto 2"/>
          <p:cNvSpPr>
            <a:spLocks noGrp="1"/>
          </p:cNvSpPr>
          <p:nvPr>
            <p:ph type="body" idx="13"/>
          </p:nvPr>
        </p:nvSpPr>
        <p:spPr>
          <a:xfrm>
            <a:off x="5214942" y="1428736"/>
            <a:ext cx="3424262" cy="717559"/>
          </a:xfr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9144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pt-BR" sz="2400" kern="1200" dirty="0" smtClean="0">
                <a:solidFill>
                  <a:srgbClr val="EEECE1">
                    <a:lumMod val="25000"/>
                  </a:srgbClr>
                </a:solidFill>
                <a:latin typeface="Gill Sans MT" pitchFamily="34" charset="0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8FE2-A0C0-4219-8819-47F138731E6E}" type="datetimeFigureOut">
              <a:rPr lang="pt-BR" smtClean="0"/>
              <a:pPr/>
              <a:t>27/02/2020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06E0C-11F2-450E-9DBC-3132A10CE1E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8FE2-A0C0-4219-8819-47F138731E6E}" type="datetimeFigureOut">
              <a:rPr lang="pt-BR" smtClean="0"/>
              <a:pPr/>
              <a:t>27/02/2020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06E0C-11F2-450E-9DBC-3132A10CE1E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gradFill>
            <a:gsLst>
              <a:gs pos="0">
                <a:schemeClr val="bg1">
                  <a:alpha val="0"/>
                </a:schemeClr>
              </a:gs>
              <a:gs pos="55000">
                <a:schemeClr val="bg2">
                  <a:lumMod val="9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solidFill>
              <a:schemeClr val="bg2">
                <a:lumMod val="75000"/>
              </a:schemeClr>
            </a:solidFill>
          </a:ln>
        </p:spPr>
        <p:txBody>
          <a:bodyPr anchor="ctr"/>
          <a:lstStyle>
            <a:lvl1pPr algn="l">
              <a:defRPr sz="2000" b="0" cap="none" spc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gradFill>
            <a:gsLst>
              <a:gs pos="0">
                <a:schemeClr val="bg1">
                  <a:alpha val="0"/>
                </a:schemeClr>
              </a:gs>
              <a:gs pos="55000">
                <a:schemeClr val="bg2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buNone/>
              <a:defRPr sz="1400"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8FE2-A0C0-4219-8819-47F138731E6E}" type="datetimeFigureOut">
              <a:rPr lang="pt-BR" smtClean="0"/>
              <a:pPr/>
              <a:t>27/02/2020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06E0C-11F2-450E-9DBC-3132A10CE1E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8FE2-A0C0-4219-8819-47F138731E6E}" type="datetimeFigureOut">
              <a:rPr lang="pt-BR" smtClean="0"/>
              <a:pPr/>
              <a:t>27/02/2020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06E0C-11F2-450E-9DBC-3132A10CE1E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8FE2-A0C0-4219-8819-47F138731E6E}" type="datetimeFigureOut">
              <a:rPr lang="pt-BR" smtClean="0"/>
              <a:pPr/>
              <a:t>27/02/2020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06E0C-11F2-450E-9DBC-3132A10CE1E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8FE2-A0C0-4219-8819-47F138731E6E}" type="datetimeFigureOut">
              <a:rPr lang="pt-BR" smtClean="0"/>
              <a:pPr/>
              <a:t>27/02/2020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06E0C-11F2-450E-9DBC-3132A10CE1E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</p:spPr>
        <p:txBody>
          <a:bodyPr>
            <a:noAutofit/>
          </a:bodyPr>
          <a:lstStyle>
            <a:lvl1pPr algn="l">
              <a:defRPr sz="7200" baseline="0">
                <a:ln w="12700">
                  <a:solidFill>
                    <a:schemeClr val="tx2"/>
                  </a:solidFill>
                </a:ln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838200"/>
            <a:ext cx="7467600" cy="44196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8FE2-A0C0-4219-8819-47F138731E6E}" type="datetimeFigureOut">
              <a:rPr lang="pt-BR" smtClean="0"/>
              <a:pPr/>
              <a:t>27/02/2020</a:t>
            </a:fld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E06E0C-11F2-450E-9DBC-3132A10CE1E6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8FE2-A0C0-4219-8819-47F138731E6E}" type="datetimeFigureOut">
              <a:rPr lang="pt-BR" smtClean="0"/>
              <a:pPr/>
              <a:t>27/02/2020</a:t>
            </a:fld>
            <a:endParaRPr lang="pt-BR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06E0C-11F2-450E-9DBC-3132A10CE1E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8FE2-A0C0-4219-8819-47F138731E6E}" type="datetimeFigureOut">
              <a:rPr lang="pt-BR" smtClean="0"/>
              <a:pPr/>
              <a:t>27/02/2020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06E0C-11F2-450E-9DBC-3132A10CE1E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8FE2-A0C0-4219-8819-47F138731E6E}" type="datetimeFigureOut">
              <a:rPr lang="pt-BR" smtClean="0"/>
              <a:pPr/>
              <a:t>27/02/2020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06E0C-11F2-450E-9DBC-3132A10CE1E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8FE2-A0C0-4219-8819-47F138731E6E}" type="datetimeFigureOut">
              <a:rPr lang="pt-BR" smtClean="0"/>
              <a:pPr/>
              <a:t>27/02/2020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06E0C-11F2-450E-9DBC-3132A10CE1E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8FE2-A0C0-4219-8819-47F138731E6E}" type="datetimeFigureOut">
              <a:rPr lang="pt-BR" smtClean="0"/>
              <a:pPr/>
              <a:t>27/02/2020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06E0C-11F2-450E-9DBC-3132A10CE1E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8FE2-A0C0-4219-8819-47F138731E6E}" type="datetimeFigureOut">
              <a:rPr lang="pt-BR" smtClean="0"/>
              <a:pPr/>
              <a:t>27/02/2020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06E0C-11F2-450E-9DBC-3132A10CE1E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8FE2-A0C0-4219-8819-47F138731E6E}" type="datetimeFigureOut">
              <a:rPr lang="pt-BR" smtClean="0"/>
              <a:pPr/>
              <a:t>27/02/2020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06E0C-11F2-450E-9DBC-3132A10CE1E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8FE2-A0C0-4219-8819-47F138731E6E}" type="datetimeFigureOut">
              <a:rPr lang="pt-BR" smtClean="0"/>
              <a:pPr/>
              <a:t>27/02/2020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06E0C-11F2-450E-9DBC-3132A10CE1E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8FE2-A0C0-4219-8819-47F138731E6E}" type="datetimeFigureOut">
              <a:rPr lang="pt-BR" smtClean="0"/>
              <a:pPr/>
              <a:t>27/02/2020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51E06E0C-11F2-450E-9DBC-3132A10CE1E6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8FE2-A0C0-4219-8819-47F138731E6E}" type="datetimeFigureOut">
              <a:rPr lang="pt-BR" smtClean="0"/>
              <a:pPr/>
              <a:t>27/02/2020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06E0C-11F2-450E-9DBC-3132A10CE1E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8FE2-A0C0-4219-8819-47F138731E6E}" type="datetimeFigureOut">
              <a:rPr lang="pt-BR" smtClean="0"/>
              <a:pPr/>
              <a:t>27/02/2020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06E0C-11F2-450E-9DBC-3132A10CE1E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bg1"/>
            </a:gs>
            <a:gs pos="100000">
              <a:schemeClr val="bg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E08FE2-A0C0-4219-8819-47F138731E6E}" type="datetimeFigureOut">
              <a:rPr lang="pt-BR" smtClean="0"/>
              <a:pPr/>
              <a:t>27/02/2020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E06E0C-11F2-450E-9DBC-3132A10CE1E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D5E08FE2-A0C0-4219-8819-47F138731E6E}" type="datetimeFigureOut">
              <a:rPr lang="pt-BR" smtClean="0"/>
              <a:pPr/>
              <a:t>27/02/2020</a:t>
            </a:fld>
            <a:endParaRPr lang="pt-BR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1E06E0C-11F2-450E-9DBC-3132A10CE1E6}" type="slidenum">
              <a:rPr lang="pt-BR" smtClean="0"/>
              <a:pPr/>
              <a:t>‹nº›</a:t>
            </a:fld>
            <a:endParaRPr lang="pt-BR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80000"/>
                <a:satMod val="400000"/>
              </a:schemeClr>
            </a:gs>
            <a:gs pos="25000">
              <a:schemeClr val="bg2">
                <a:tint val="83000"/>
                <a:satMod val="320000"/>
              </a:schemeClr>
            </a:gs>
            <a:gs pos="100000">
              <a:schemeClr val="bg2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prstGeom prst="rect">
            <a:avLst/>
          </a:prstGeom>
          <a:ln>
            <a:noFill/>
          </a:ln>
        </p:spPr>
        <p:txBody>
          <a:bodyPr anchor="b">
            <a:normAutofit/>
          </a:bodyPr>
          <a:lstStyle/>
          <a:p>
            <a:r>
              <a:rPr lang="pt-BR" sz="5200"/>
              <a:t>Funções de Entrada e Saída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r>
              <a:rPr lang="pt-BR"/>
              <a:t> Na Linguagem C:</a:t>
            </a:r>
          </a:p>
          <a:p>
            <a:r>
              <a:rPr lang="pt-BR"/>
              <a:t> printf() e scanf()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</a:t>
            </a:r>
            <a:r>
              <a:rPr lang="pt-BR" b="1" dirty="0" err="1">
                <a:cs typeface="Courier New" pitchFamily="49" charset="0"/>
              </a:rPr>
              <a:t>printf</a:t>
            </a:r>
            <a:r>
              <a:rPr lang="pt-BR" b="1" dirty="0">
                <a:cs typeface="Courier New" pitchFamily="49" charset="0"/>
              </a:rPr>
              <a:t>()</a:t>
            </a:r>
            <a:r>
              <a:rPr lang="pt-BR" dirty="0">
                <a:cs typeface="Courier New" pitchFamily="49" charset="0"/>
              </a:rPr>
              <a:t> </a:t>
            </a:r>
            <a:r>
              <a:rPr lang="pt-BR" dirty="0"/>
              <a:t>e </a:t>
            </a:r>
            <a:r>
              <a:rPr lang="pt-BR" b="1" dirty="0" err="1">
                <a:cs typeface="Courier New" pitchFamily="49" charset="0"/>
              </a:rPr>
              <a:t>scanf</a:t>
            </a:r>
            <a:r>
              <a:rPr lang="pt-BR" b="1" dirty="0">
                <a:cs typeface="Courier New" pitchFamily="49" charset="0"/>
              </a:rPr>
              <a:t>().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As funções </a:t>
            </a:r>
            <a:r>
              <a:rPr lang="pt-BR" dirty="0" err="1"/>
              <a:t>printf</a:t>
            </a:r>
            <a:r>
              <a:rPr lang="pt-BR" dirty="0"/>
              <a:t>() e </a:t>
            </a:r>
            <a:r>
              <a:rPr lang="pt-BR" dirty="0" err="1"/>
              <a:t>scanf</a:t>
            </a:r>
            <a:r>
              <a:rPr lang="pt-BR" dirty="0"/>
              <a:t>() fazem parte da biblioteca padrão de entrada e saída (</a:t>
            </a:r>
            <a:r>
              <a:rPr lang="pt-BR" i="1" dirty="0" err="1"/>
              <a:t>stdio</a:t>
            </a:r>
            <a:r>
              <a:rPr lang="pt-BR" i="1" dirty="0"/>
              <a:t>.h</a:t>
            </a:r>
            <a:r>
              <a:rPr lang="pt-BR" dirty="0"/>
              <a:t> ou </a:t>
            </a:r>
            <a:r>
              <a:rPr lang="pt-BR" i="1" dirty="0" err="1"/>
              <a:t>cstdio</a:t>
            </a:r>
            <a:r>
              <a:rPr lang="pt-BR" dirty="0"/>
              <a:t>).</a:t>
            </a:r>
          </a:p>
          <a:p>
            <a:r>
              <a:rPr lang="pt-BR" dirty="0"/>
              <a:t>O objetivo dessas funções é gerenciar entrada/saída de dados através de um formato definido na chamada da função.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printf</a:t>
            </a:r>
            <a:r>
              <a:rPr lang="pt-BR" dirty="0"/>
              <a:t>()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printf</a:t>
            </a:r>
            <a:r>
              <a:rPr lang="pt-BR" dirty="0"/>
              <a:t>() gera saída de dados formatados para a tela do console.</a:t>
            </a:r>
          </a:p>
          <a:p>
            <a:r>
              <a:rPr lang="pt-BR" dirty="0"/>
              <a:t>O protótipo da função </a:t>
            </a:r>
            <a:r>
              <a:rPr lang="pt-BR" dirty="0" err="1"/>
              <a:t>printf</a:t>
            </a:r>
            <a:r>
              <a:rPr lang="pt-BR" dirty="0"/>
              <a:t>() é: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Em caso de sucesso em sua execução, </a:t>
            </a:r>
            <a:r>
              <a:rPr lang="pt-BR" dirty="0" err="1"/>
              <a:t>printf</a:t>
            </a:r>
            <a:r>
              <a:rPr lang="pt-BR" dirty="0"/>
              <a:t>() retorna o numero de caracteres exibidos. Em caso de falha retorna um número negativo.</a:t>
            </a:r>
          </a:p>
          <a:p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1000100" y="3786190"/>
            <a:ext cx="7215238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b="1" dirty="0" err="1">
                <a:latin typeface="Lucida Console" pitchFamily="49" charset="0"/>
                <a:cs typeface="Courier New" pitchFamily="49" charset="0"/>
              </a:rPr>
              <a:t>int</a:t>
            </a:r>
            <a:r>
              <a:rPr lang="pt-BR" dirty="0">
                <a:latin typeface="Lucida Console" pitchFamily="49" charset="0"/>
                <a:cs typeface="Courier New" pitchFamily="49" charset="0"/>
              </a:rPr>
              <a:t> </a:t>
            </a:r>
            <a:r>
              <a:rPr lang="pt-BR" dirty="0" err="1">
                <a:latin typeface="Lucida Console" pitchFamily="49" charset="0"/>
                <a:cs typeface="Courier New" pitchFamily="49" charset="0"/>
              </a:rPr>
              <a:t>printf</a:t>
            </a:r>
            <a:r>
              <a:rPr lang="pt-BR" dirty="0">
                <a:latin typeface="Lucida Console" pitchFamily="49" charset="0"/>
                <a:cs typeface="Courier New" pitchFamily="49" charset="0"/>
              </a:rPr>
              <a:t> </a:t>
            </a:r>
            <a:r>
              <a:rPr lang="pt-BR" b="1" dirty="0">
                <a:latin typeface="Lucida Console" pitchFamily="49" charset="0"/>
                <a:cs typeface="Courier New" pitchFamily="49" charset="0"/>
              </a:rPr>
              <a:t>(</a:t>
            </a:r>
            <a:r>
              <a:rPr lang="pt-BR" dirty="0" err="1">
                <a:latin typeface="Lucida Console" pitchFamily="49" charset="0"/>
                <a:cs typeface="Courier New" pitchFamily="49" charset="0"/>
              </a:rPr>
              <a:t>const</a:t>
            </a:r>
            <a:r>
              <a:rPr lang="pt-BR" dirty="0">
                <a:latin typeface="Lucida Console" pitchFamily="49" charset="0"/>
                <a:cs typeface="Courier New" pitchFamily="49" charset="0"/>
              </a:rPr>
              <a:t> </a:t>
            </a:r>
            <a:r>
              <a:rPr lang="pt-BR" dirty="0" err="1">
                <a:latin typeface="Lucida Console" pitchFamily="49" charset="0"/>
                <a:cs typeface="Courier New" pitchFamily="49" charset="0"/>
              </a:rPr>
              <a:t>char</a:t>
            </a:r>
            <a:r>
              <a:rPr lang="pt-BR" dirty="0">
                <a:latin typeface="Lucida Console" pitchFamily="49" charset="0"/>
                <a:cs typeface="Courier New" pitchFamily="49" charset="0"/>
              </a:rPr>
              <a:t>* formato</a:t>
            </a:r>
            <a:r>
              <a:rPr lang="pt-BR" i="1" dirty="0">
                <a:latin typeface="Lucida Console" pitchFamily="49" charset="0"/>
                <a:cs typeface="Courier New" pitchFamily="49" charset="0"/>
              </a:rPr>
              <a:t>, </a:t>
            </a:r>
            <a:r>
              <a:rPr lang="pt-BR" dirty="0">
                <a:latin typeface="Lucida Console" pitchFamily="49" charset="0"/>
                <a:cs typeface="Courier New" pitchFamily="49" charset="0"/>
              </a:rPr>
              <a:t>...</a:t>
            </a:r>
            <a:r>
              <a:rPr lang="pt-BR" b="1" dirty="0">
                <a:latin typeface="Lucida Console" pitchFamily="49" charset="0"/>
                <a:cs typeface="Courier New" pitchFamily="49" charset="0"/>
              </a:rPr>
              <a:t>)</a:t>
            </a:r>
            <a:endParaRPr lang="pt-BR" dirty="0">
              <a:latin typeface="Lucida Console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printf</a:t>
            </a:r>
            <a:r>
              <a:rPr lang="pt-BR" dirty="0"/>
              <a:t>() – Formatação 1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Esta função permite o uso de máscaras para mostrar saída em um determinado formato.</a:t>
            </a:r>
          </a:p>
          <a:p>
            <a:r>
              <a:rPr lang="pt-BR" dirty="0"/>
              <a:t>Exemplos: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857224" y="3501008"/>
            <a:ext cx="7215238" cy="230832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pt-BR" dirty="0">
              <a:latin typeface="Lucida Console" pitchFamily="49" charset="0"/>
              <a:cs typeface="Courier New" pitchFamily="49" charset="0"/>
            </a:endParaRPr>
          </a:p>
          <a:p>
            <a:r>
              <a:rPr lang="pt-BR" dirty="0">
                <a:latin typeface="Lucida Console" pitchFamily="49" charset="0"/>
                <a:cs typeface="Courier New" pitchFamily="49" charset="0"/>
              </a:rPr>
              <a:t>%d – Exibe um número inteiro em base decimal</a:t>
            </a:r>
          </a:p>
          <a:p>
            <a:r>
              <a:rPr lang="pt-BR" dirty="0">
                <a:latin typeface="Lucida Console" pitchFamily="49" charset="0"/>
                <a:cs typeface="Courier New" pitchFamily="49" charset="0"/>
              </a:rPr>
              <a:t>%x – Exibe um número inteiro em base hexadecimal</a:t>
            </a:r>
          </a:p>
          <a:p>
            <a:r>
              <a:rPr lang="pt-BR" dirty="0">
                <a:latin typeface="Lucida Console" pitchFamily="49" charset="0"/>
                <a:cs typeface="Courier New" pitchFamily="49" charset="0"/>
              </a:rPr>
              <a:t>%o – Exibe um número inteiro em base </a:t>
            </a:r>
            <a:r>
              <a:rPr lang="pt-BR" dirty="0" err="1">
                <a:latin typeface="Lucida Console" pitchFamily="49" charset="0"/>
                <a:cs typeface="Courier New" pitchFamily="49" charset="0"/>
              </a:rPr>
              <a:t>octal</a:t>
            </a:r>
            <a:endParaRPr lang="pt-BR" dirty="0">
              <a:latin typeface="Lucida Console" pitchFamily="49" charset="0"/>
              <a:cs typeface="Courier New" pitchFamily="49" charset="0"/>
            </a:endParaRPr>
          </a:p>
          <a:p>
            <a:r>
              <a:rPr lang="pt-BR" dirty="0">
                <a:latin typeface="Lucida Console" pitchFamily="49" charset="0"/>
                <a:cs typeface="Courier New" pitchFamily="49" charset="0"/>
              </a:rPr>
              <a:t>%f – Exibe um número real</a:t>
            </a:r>
          </a:p>
          <a:p>
            <a:r>
              <a:rPr lang="pt-BR" dirty="0">
                <a:latin typeface="Lucida Console" pitchFamily="49" charset="0"/>
                <a:cs typeface="Courier New" pitchFamily="49" charset="0"/>
              </a:rPr>
              <a:t>%c – Exibe um único caractere</a:t>
            </a:r>
          </a:p>
          <a:p>
            <a:r>
              <a:rPr lang="pt-BR" dirty="0">
                <a:latin typeface="Lucida Console" pitchFamily="49" charset="0"/>
                <a:cs typeface="Courier New" pitchFamily="49" charset="0"/>
              </a:rPr>
              <a:t>%s – Exibe uma cadeia de caracteres</a:t>
            </a:r>
          </a:p>
          <a:p>
            <a:endParaRPr lang="pt-BR" dirty="0">
              <a:latin typeface="Lucida Console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printf</a:t>
            </a:r>
            <a:r>
              <a:rPr lang="pt-BR" dirty="0"/>
              <a:t>() – Formatação 2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Podem ser adicionados alguns parâmetros às máscaras para limitar o comprimento de um valor e/ou sua precisão. Exemplos:</a:t>
            </a:r>
          </a:p>
          <a:p>
            <a:pPr>
              <a:buNone/>
            </a:pPr>
            <a:endParaRPr lang="pt-BR" dirty="0"/>
          </a:p>
        </p:txBody>
      </p:sp>
      <p:sp>
        <p:nvSpPr>
          <p:cNvPr id="7" name="CaixaDeTexto 6"/>
          <p:cNvSpPr txBox="1"/>
          <p:nvPr/>
        </p:nvSpPr>
        <p:spPr>
          <a:xfrm>
            <a:off x="857224" y="3374990"/>
            <a:ext cx="7215238" cy="286232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pt-BR" dirty="0">
              <a:latin typeface="Lucida Console" pitchFamily="49" charset="0"/>
              <a:cs typeface="Courier New" pitchFamily="49" charset="0"/>
            </a:endParaRPr>
          </a:p>
          <a:p>
            <a:r>
              <a:rPr lang="pt-BR" dirty="0">
                <a:latin typeface="Lucida Console" pitchFamily="49" charset="0"/>
                <a:cs typeface="Courier New" pitchFamily="49" charset="0"/>
              </a:rPr>
              <a:t>%9d  – Exibe um número inteiro com o comprimento de 9 dígitos.</a:t>
            </a:r>
          </a:p>
          <a:p>
            <a:endParaRPr lang="pt-BR" dirty="0">
              <a:latin typeface="Lucida Console" pitchFamily="49" charset="0"/>
              <a:cs typeface="Courier New" pitchFamily="49" charset="0"/>
            </a:endParaRPr>
          </a:p>
          <a:p>
            <a:r>
              <a:rPr lang="pt-BR" dirty="0">
                <a:latin typeface="Lucida Console" pitchFamily="49" charset="0"/>
                <a:cs typeface="Courier New" pitchFamily="49" charset="0"/>
              </a:rPr>
              <a:t>%.2f – Exibe um número real com somente duas casas decimais.</a:t>
            </a:r>
          </a:p>
          <a:p>
            <a:endParaRPr lang="pt-BR" dirty="0">
              <a:latin typeface="Lucida Console" pitchFamily="49" charset="0"/>
              <a:cs typeface="Courier New" pitchFamily="49" charset="0"/>
            </a:endParaRPr>
          </a:p>
          <a:p>
            <a:r>
              <a:rPr lang="pt-BR" dirty="0">
                <a:latin typeface="Lucida Console" pitchFamily="49" charset="0"/>
                <a:cs typeface="Courier New" pitchFamily="49" charset="0"/>
              </a:rPr>
              <a:t>%03d – Exibe um número inteiro com o comprimento de 3 dígitos onde os espaços vazios são completados com o número 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64357" y="764704"/>
            <a:ext cx="8229600" cy="1066800"/>
          </a:xfrm>
        </p:spPr>
        <p:txBody>
          <a:bodyPr/>
          <a:lstStyle/>
          <a:p>
            <a:r>
              <a:rPr lang="pt-BR" dirty="0" err="1"/>
              <a:t>printf</a:t>
            </a:r>
            <a:r>
              <a:rPr lang="pt-BR" dirty="0"/>
              <a:t>() – Exemplo 1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4873728"/>
          </a:xfrm>
        </p:spPr>
        <p:txBody>
          <a:bodyPr/>
          <a:lstStyle/>
          <a:p>
            <a:r>
              <a:rPr lang="pt-BR" dirty="0"/>
              <a:t>Para exibir uma linha de texto qualquer pode-se usar a função desta forma: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928662" y="2627620"/>
            <a:ext cx="750099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pt-BR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"Ola mundo!"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);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63688" y="3162218"/>
            <a:ext cx="5544616" cy="3638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386" y="548680"/>
            <a:ext cx="8229600" cy="1066800"/>
          </a:xfrm>
        </p:spPr>
        <p:txBody>
          <a:bodyPr/>
          <a:lstStyle/>
          <a:p>
            <a:r>
              <a:rPr lang="pt-BR" dirty="0" err="1"/>
              <a:t>printf</a:t>
            </a:r>
            <a:r>
              <a:rPr lang="pt-BR" dirty="0"/>
              <a:t>() – Exemplo 2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1556792"/>
            <a:ext cx="9036496" cy="5301208"/>
          </a:xfrm>
        </p:spPr>
        <p:txBody>
          <a:bodyPr/>
          <a:lstStyle/>
          <a:p>
            <a:r>
              <a:rPr lang="pt-BR" dirty="0"/>
              <a:t>Exibindo o valor de variáveis do tipo </a:t>
            </a:r>
            <a:r>
              <a:rPr lang="pt-BR" b="1" dirty="0" err="1"/>
              <a:t>int</a:t>
            </a:r>
            <a:r>
              <a:rPr lang="pt-BR" dirty="0"/>
              <a:t>: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928662" y="2060848"/>
            <a:ext cx="7500990" cy="147732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 n1 = </a:t>
            </a:r>
            <a:r>
              <a:rPr lang="pt-BR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27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pt-BR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pt-BR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"O valor de n1: %d\n"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,n1);</a:t>
            </a:r>
          </a:p>
          <a:p>
            <a:r>
              <a:rPr lang="pt-BR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pt-BR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"O valor de n1 em base hexadecimal: %x\n"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,n1);</a:t>
            </a:r>
          </a:p>
          <a:p>
            <a:r>
              <a:rPr lang="pt-BR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pt-BR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"O valor de n1 em base </a:t>
            </a:r>
            <a:r>
              <a:rPr lang="pt-BR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octal</a:t>
            </a:r>
            <a:r>
              <a:rPr lang="pt-BR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: %o\n"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,n1);</a:t>
            </a:r>
          </a:p>
          <a:p>
            <a:r>
              <a:rPr lang="pt-BR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pt-BR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"O valor de n1 com 5 </a:t>
            </a:r>
            <a:r>
              <a:rPr lang="pt-BR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digitos</a:t>
            </a:r>
            <a:r>
              <a:rPr lang="pt-BR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: %05d\n"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,n1);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9618" y="3789040"/>
            <a:ext cx="6660694" cy="295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066800"/>
          </a:xfrm>
        </p:spPr>
        <p:txBody>
          <a:bodyPr/>
          <a:lstStyle/>
          <a:p>
            <a:r>
              <a:rPr lang="pt-BR" dirty="0" err="1"/>
              <a:t>printf</a:t>
            </a:r>
            <a:r>
              <a:rPr lang="pt-BR" dirty="0"/>
              <a:t>() – Exemplo 3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95536" y="1412776"/>
            <a:ext cx="8229600" cy="4657704"/>
          </a:xfrm>
        </p:spPr>
        <p:txBody>
          <a:bodyPr/>
          <a:lstStyle/>
          <a:p>
            <a:r>
              <a:rPr lang="pt-BR" dirty="0"/>
              <a:t>Exibindo o valor de variáveis do tipo </a:t>
            </a:r>
            <a:r>
              <a:rPr lang="pt-BR" b="1" dirty="0" err="1"/>
              <a:t>char</a:t>
            </a:r>
            <a:r>
              <a:rPr lang="pt-BR" dirty="0"/>
              <a:t>: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928662" y="1988840"/>
            <a:ext cx="7500990" cy="12003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b="1" dirty="0" err="1">
                <a:latin typeface="Courier New" pitchFamily="49" charset="0"/>
                <a:cs typeface="Courier New" pitchFamily="49" charset="0"/>
              </a:rPr>
              <a:t>char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 c1 = </a:t>
            </a:r>
            <a:r>
              <a:rPr lang="pt-BR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'M'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pt-BR" b="1" dirty="0">
                <a:latin typeface="Courier New" pitchFamily="49" charset="0"/>
                <a:cs typeface="Courier New" pitchFamily="49" charset="0"/>
              </a:rPr>
              <a:t>char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 c2[</a:t>
            </a:r>
            <a:r>
              <a:rPr lang="pt-BR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8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] = </a:t>
            </a:r>
            <a:r>
              <a:rPr lang="pt-BR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"Marcelo"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pt-BR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pt-BR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"A primeira letra do meu nome e %c.\n"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,c1);</a:t>
            </a:r>
          </a:p>
          <a:p>
            <a:r>
              <a:rPr lang="pt-BR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pt-BR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"Meu nome e %s.\n"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,c2);</a:t>
            </a:r>
          </a:p>
        </p:txBody>
      </p:sp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8193" y="3429000"/>
            <a:ext cx="6912119" cy="3242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scanf</a:t>
            </a:r>
            <a:r>
              <a:rPr lang="pt-BR" dirty="0"/>
              <a:t>()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err="1"/>
              <a:t>scanf</a:t>
            </a:r>
            <a:r>
              <a:rPr lang="pt-BR" dirty="0"/>
              <a:t>() recebe dados inseridos pelo usuário através do console e os analisa e armazena através de um formato.</a:t>
            </a:r>
          </a:p>
          <a:p>
            <a:r>
              <a:rPr lang="pt-BR" dirty="0"/>
              <a:t>O protótipo da função </a:t>
            </a:r>
            <a:r>
              <a:rPr lang="pt-BR" dirty="0" err="1"/>
              <a:t>scanf</a:t>
            </a:r>
            <a:r>
              <a:rPr lang="pt-BR" dirty="0"/>
              <a:t>() é: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Em caso de sucesso na leitura, </a:t>
            </a:r>
            <a:r>
              <a:rPr lang="pt-BR" dirty="0" err="1"/>
              <a:t>scanf</a:t>
            </a:r>
            <a:r>
              <a:rPr lang="pt-BR" dirty="0"/>
              <a:t>() retorna o numero de caracteres lidos. Em caso de falha retorna um número negativo.</a:t>
            </a:r>
          </a:p>
          <a:p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1000100" y="3573016"/>
            <a:ext cx="7215238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b="1" dirty="0" err="1">
                <a:latin typeface="Lucida Console" pitchFamily="49" charset="0"/>
                <a:cs typeface="Courier New" pitchFamily="49" charset="0"/>
              </a:rPr>
              <a:t>int</a:t>
            </a:r>
            <a:r>
              <a:rPr lang="pt-BR" dirty="0">
                <a:latin typeface="Lucida Console" pitchFamily="49" charset="0"/>
                <a:cs typeface="Courier New" pitchFamily="49" charset="0"/>
              </a:rPr>
              <a:t> </a:t>
            </a:r>
            <a:r>
              <a:rPr lang="pt-BR" dirty="0" err="1">
                <a:latin typeface="Lucida Console" pitchFamily="49" charset="0"/>
                <a:cs typeface="Courier New" pitchFamily="49" charset="0"/>
              </a:rPr>
              <a:t>scanf</a:t>
            </a:r>
            <a:r>
              <a:rPr lang="pt-BR" dirty="0">
                <a:latin typeface="Lucida Console" pitchFamily="49" charset="0"/>
                <a:cs typeface="Courier New" pitchFamily="49" charset="0"/>
              </a:rPr>
              <a:t> </a:t>
            </a:r>
            <a:r>
              <a:rPr lang="pt-BR" b="1" dirty="0">
                <a:latin typeface="Lucida Console" pitchFamily="49" charset="0"/>
                <a:cs typeface="Courier New" pitchFamily="49" charset="0"/>
              </a:rPr>
              <a:t>(</a:t>
            </a:r>
            <a:r>
              <a:rPr lang="pt-BR" dirty="0" err="1">
                <a:latin typeface="Lucida Console" pitchFamily="49" charset="0"/>
                <a:cs typeface="Courier New" pitchFamily="49" charset="0"/>
              </a:rPr>
              <a:t>const</a:t>
            </a:r>
            <a:r>
              <a:rPr lang="pt-BR" dirty="0">
                <a:latin typeface="Lucida Console" pitchFamily="49" charset="0"/>
                <a:cs typeface="Courier New" pitchFamily="49" charset="0"/>
              </a:rPr>
              <a:t> </a:t>
            </a:r>
            <a:r>
              <a:rPr lang="pt-BR" dirty="0" err="1">
                <a:latin typeface="Lucida Console" pitchFamily="49" charset="0"/>
                <a:cs typeface="Courier New" pitchFamily="49" charset="0"/>
              </a:rPr>
              <a:t>char</a:t>
            </a:r>
            <a:r>
              <a:rPr lang="pt-BR" dirty="0">
                <a:latin typeface="Lucida Console" pitchFamily="49" charset="0"/>
                <a:cs typeface="Courier New" pitchFamily="49" charset="0"/>
              </a:rPr>
              <a:t>* formato</a:t>
            </a:r>
            <a:r>
              <a:rPr lang="pt-BR" i="1" dirty="0">
                <a:latin typeface="Lucida Console" pitchFamily="49" charset="0"/>
                <a:cs typeface="Courier New" pitchFamily="49" charset="0"/>
              </a:rPr>
              <a:t>, </a:t>
            </a:r>
            <a:r>
              <a:rPr lang="pt-BR" dirty="0">
                <a:latin typeface="Lucida Console" pitchFamily="49" charset="0"/>
                <a:cs typeface="Courier New" pitchFamily="49" charset="0"/>
              </a:rPr>
              <a:t>...</a:t>
            </a:r>
            <a:r>
              <a:rPr lang="pt-BR" b="1" dirty="0">
                <a:latin typeface="Lucida Console" pitchFamily="49" charset="0"/>
                <a:cs typeface="Courier New" pitchFamily="49" charset="0"/>
              </a:rPr>
              <a:t>)</a:t>
            </a:r>
            <a:endParaRPr lang="pt-BR" dirty="0">
              <a:latin typeface="Lucida Console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scanf</a:t>
            </a:r>
            <a:r>
              <a:rPr lang="pt-BR" dirty="0"/>
              <a:t>() – Parâmetros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primeiro parâmetro da função recebe a máscara para a leitura dos dados.</a:t>
            </a:r>
          </a:p>
          <a:p>
            <a:r>
              <a:rPr lang="pt-BR" dirty="0"/>
              <a:t>Esta função utiliza as mesmas máscaras da função </a:t>
            </a:r>
            <a:r>
              <a:rPr lang="pt-BR" dirty="0" err="1"/>
              <a:t>printf</a:t>
            </a:r>
            <a:r>
              <a:rPr lang="pt-BR" dirty="0"/>
              <a:t>().</a:t>
            </a:r>
          </a:p>
          <a:p>
            <a:endParaRPr lang="pt-BR" dirty="0"/>
          </a:p>
          <a:p>
            <a:r>
              <a:rPr lang="pt-BR" dirty="0"/>
              <a:t>Os parâmetros adicionais são os endereços das variáveis a receber a entrada formatada.</a:t>
            </a:r>
          </a:p>
          <a:p>
            <a:r>
              <a:rPr lang="pt-BR" dirty="0"/>
              <a:t>Utiliza-se o símbolo ‘&amp;’ no início de uma variável para exibir seu endereço.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scanf</a:t>
            </a:r>
            <a:r>
              <a:rPr lang="pt-BR" dirty="0"/>
              <a:t>() – Exemplo 1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928662" y="2157233"/>
            <a:ext cx="7500990" cy="12003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 num;</a:t>
            </a:r>
          </a:p>
          <a:p>
            <a:r>
              <a:rPr lang="pt-BR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pt-BR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"Digite um numero inteiro: "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pt-BR" dirty="0" err="1">
                <a:latin typeface="Courier New" pitchFamily="49" charset="0"/>
                <a:cs typeface="Courier New" pitchFamily="49" charset="0"/>
              </a:rPr>
              <a:t>scanf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pt-BR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"%d"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,&amp;num);</a:t>
            </a:r>
          </a:p>
          <a:p>
            <a:r>
              <a:rPr lang="pt-BR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pt-BR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"\</a:t>
            </a:r>
            <a:r>
              <a:rPr lang="pt-BR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nO</a:t>
            </a:r>
            <a:r>
              <a:rPr lang="pt-BR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dobro de %d e %d."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,num,num*</a:t>
            </a:r>
            <a:r>
              <a:rPr lang="pt-BR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);</a:t>
            </a:r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3042" y="3643314"/>
            <a:ext cx="5857916" cy="2582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1066800"/>
          </a:xfrm>
        </p:spPr>
        <p:txBody>
          <a:bodyPr/>
          <a:lstStyle/>
          <a:p>
            <a:r>
              <a:rPr lang="pt-BR" dirty="0" err="1"/>
              <a:t>scanf</a:t>
            </a:r>
            <a:r>
              <a:rPr lang="pt-BR" dirty="0"/>
              <a:t>() – Exemplo 2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928662" y="1613699"/>
            <a:ext cx="7500990" cy="203132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b="1" dirty="0" err="1">
                <a:latin typeface="Courier New" pitchFamily="49" charset="0"/>
                <a:cs typeface="Courier New" pitchFamily="49" charset="0"/>
              </a:rPr>
              <a:t>char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 nome[</a:t>
            </a:r>
            <a:r>
              <a:rPr lang="pt-BR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25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];</a:t>
            </a:r>
          </a:p>
          <a:p>
            <a:r>
              <a:rPr lang="pt-BR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 idade;</a:t>
            </a:r>
          </a:p>
          <a:p>
            <a:r>
              <a:rPr lang="pt-BR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pt-BR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"Informe o nome: "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pt-BR" dirty="0" err="1">
                <a:latin typeface="Courier New" pitchFamily="49" charset="0"/>
                <a:cs typeface="Courier New" pitchFamily="49" charset="0"/>
              </a:rPr>
              <a:t>scanf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pt-BR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"%</a:t>
            </a:r>
            <a:r>
              <a:rPr lang="pt-BR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s"</a:t>
            </a:r>
            <a:r>
              <a:rPr lang="pt-BR" dirty="0" err="1">
                <a:latin typeface="Courier New" pitchFamily="49" charset="0"/>
                <a:cs typeface="Courier New" pitchFamily="49" charset="0"/>
              </a:rPr>
              <a:t>,&amp;nome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pt-BR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pt-BR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"Informe a idade: "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pt-BR" dirty="0" err="1">
                <a:latin typeface="Courier New" pitchFamily="49" charset="0"/>
                <a:cs typeface="Courier New" pitchFamily="49" charset="0"/>
              </a:rPr>
              <a:t>scanf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pt-BR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"%d"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,&amp;idade);</a:t>
            </a:r>
          </a:p>
          <a:p>
            <a:r>
              <a:rPr lang="pt-BR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pt-BR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"\</a:t>
            </a:r>
            <a:r>
              <a:rPr lang="pt-BR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nO</a:t>
            </a:r>
            <a:r>
              <a:rPr lang="pt-BR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usuario</a:t>
            </a:r>
            <a:r>
              <a:rPr lang="pt-BR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%s tem %d anos!"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,nome,idade);</a:t>
            </a: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13036" y="4005064"/>
            <a:ext cx="5973608" cy="24830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ssic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luxo">
  <a:themeElements>
    <a:clrScheme name="Fluxo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uxo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ux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TC030006182[[fn=Classic Theme 2007]]</Template>
  <TotalTime>281</TotalTime>
  <Words>651</Words>
  <Application>Microsoft Office PowerPoint</Application>
  <PresentationFormat>Apresentação na tela (4:3)</PresentationFormat>
  <Paragraphs>74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12</vt:i4>
      </vt:variant>
    </vt:vector>
  </HeadingPairs>
  <TitlesOfParts>
    <vt:vector size="22" baseType="lpstr">
      <vt:lpstr>Arial</vt:lpstr>
      <vt:lpstr>Calibri</vt:lpstr>
      <vt:lpstr>Calisto MT</vt:lpstr>
      <vt:lpstr>Constantia</vt:lpstr>
      <vt:lpstr>Courier New</vt:lpstr>
      <vt:lpstr>Gill Sans MT</vt:lpstr>
      <vt:lpstr>Lucida Console</vt:lpstr>
      <vt:lpstr>Wingdings 2</vt:lpstr>
      <vt:lpstr>Classic</vt:lpstr>
      <vt:lpstr>Fluxo</vt:lpstr>
      <vt:lpstr>Funções de Entrada e Saída</vt:lpstr>
      <vt:lpstr>Funções printf() e scanf().</vt:lpstr>
      <vt:lpstr>printf()</vt:lpstr>
      <vt:lpstr>printf() – Formatação 1</vt:lpstr>
      <vt:lpstr>printf() – Formatação 2</vt:lpstr>
      <vt:lpstr>printf() – Exemplo 1</vt:lpstr>
      <vt:lpstr>printf() – Exemplo 2</vt:lpstr>
      <vt:lpstr>printf() – Exemplo 3</vt:lpstr>
      <vt:lpstr>scanf()</vt:lpstr>
      <vt:lpstr>scanf() – Parâmetros</vt:lpstr>
      <vt:lpstr>scanf() – Exemplo 1</vt:lpstr>
      <vt:lpstr>scanf() – Exemplo 2</vt:lpstr>
    </vt:vector>
  </TitlesOfParts>
  <Company>FUCAPI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Funções printf() e scanf().</dc:title>
  <dc:creator>Luiz Franco</dc:creator>
  <cp:lastModifiedBy>William Roberto Malvezzi</cp:lastModifiedBy>
  <cp:revision>31</cp:revision>
  <dcterms:created xsi:type="dcterms:W3CDTF">2011-03-31T22:34:08Z</dcterms:created>
  <dcterms:modified xsi:type="dcterms:W3CDTF">2020-02-27T19:11:46Z</dcterms:modified>
</cp:coreProperties>
</file>