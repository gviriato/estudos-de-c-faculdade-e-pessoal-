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8" r:id="rId2"/>
    <p:sldId id="256" r:id="rId3"/>
    <p:sldId id="257" r:id="rId4"/>
    <p:sldId id="260" r:id="rId5"/>
    <p:sldId id="261" r:id="rId6"/>
    <p:sldId id="258" r:id="rId7"/>
    <p:sldId id="259" r:id="rId8"/>
    <p:sldId id="262" r:id="rId9"/>
    <p:sldId id="263" r:id="rId10"/>
    <p:sldId id="264" r:id="rId11"/>
    <p:sldId id="265" r:id="rId12"/>
    <p:sldId id="266" r:id="rId13"/>
    <p:sldId id="267" r:id="rId14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F601A"/>
    <a:srgbClr val="3016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110" autoAdjust="0"/>
    <p:restoredTop sz="94660"/>
  </p:normalViewPr>
  <p:slideViewPr>
    <p:cSldViewPr>
      <p:cViewPr varScale="1">
        <p:scale>
          <a:sx n="70" d="100"/>
          <a:sy n="70" d="100"/>
        </p:scale>
        <p:origin x="-1356" y="-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tângulo 22"/>
          <p:cNvSpPr/>
          <p:nvPr/>
        </p:nvSpPr>
        <p:spPr>
          <a:xfrm flipV="1">
            <a:off x="5410182" y="3810000"/>
            <a:ext cx="3733819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4" name="Retângulo 23"/>
          <p:cNvSpPr/>
          <p:nvPr/>
        </p:nvSpPr>
        <p:spPr>
          <a:xfrm flipV="1">
            <a:off x="5410200" y="3897010"/>
            <a:ext cx="3733801" cy="192024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5" name="Retângulo 24"/>
          <p:cNvSpPr/>
          <p:nvPr/>
        </p:nvSpPr>
        <p:spPr>
          <a:xfrm flipV="1">
            <a:off x="5410200" y="4115167"/>
            <a:ext cx="3733801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6" name="Retângulo 25"/>
          <p:cNvSpPr/>
          <p:nvPr/>
        </p:nvSpPr>
        <p:spPr>
          <a:xfrm flipV="1">
            <a:off x="5410200" y="4164403"/>
            <a:ext cx="1965960" cy="18288"/>
          </a:xfrm>
          <a:prstGeom prst="rect">
            <a:avLst/>
          </a:prstGeom>
          <a:solidFill>
            <a:schemeClr val="accent2">
              <a:alpha val="6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7" name="Retângulo 26"/>
          <p:cNvSpPr/>
          <p:nvPr/>
        </p:nvSpPr>
        <p:spPr>
          <a:xfrm flipV="1">
            <a:off x="5410200" y="4199572"/>
            <a:ext cx="1965960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0" name="Retângulo de cantos arredondados 29"/>
          <p:cNvSpPr/>
          <p:nvPr/>
        </p:nvSpPr>
        <p:spPr bwMode="white">
          <a:xfrm>
            <a:off x="5410200" y="3962400"/>
            <a:ext cx="306324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1" name="Retângulo de cantos arredondados 30"/>
          <p:cNvSpPr/>
          <p:nvPr/>
        </p:nvSpPr>
        <p:spPr bwMode="white">
          <a:xfrm>
            <a:off x="7376507" y="4060983"/>
            <a:ext cx="16002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Retângulo 6"/>
          <p:cNvSpPr/>
          <p:nvPr/>
        </p:nvSpPr>
        <p:spPr>
          <a:xfrm>
            <a:off x="1" y="3649662"/>
            <a:ext cx="9144000" cy="244170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tângulo 9"/>
          <p:cNvSpPr/>
          <p:nvPr/>
        </p:nvSpPr>
        <p:spPr>
          <a:xfrm>
            <a:off x="0" y="3675527"/>
            <a:ext cx="9144001" cy="14067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tângulo 10"/>
          <p:cNvSpPr/>
          <p:nvPr/>
        </p:nvSpPr>
        <p:spPr>
          <a:xfrm flipV="1">
            <a:off x="6414051" y="3643090"/>
            <a:ext cx="2729950" cy="2484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9" name="Retângulo 18"/>
          <p:cNvSpPr/>
          <p:nvPr/>
        </p:nvSpPr>
        <p:spPr>
          <a:xfrm>
            <a:off x="0" y="0"/>
            <a:ext cx="9144000" cy="3701700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ítulo 7"/>
          <p:cNvSpPr>
            <a:spLocks noGrp="1"/>
          </p:cNvSpPr>
          <p:nvPr>
            <p:ph type="ctrTitle"/>
          </p:nvPr>
        </p:nvSpPr>
        <p:spPr>
          <a:xfrm>
            <a:off x="457200" y="2401887"/>
            <a:ext cx="8458200" cy="1470025"/>
          </a:xfrm>
        </p:spPr>
        <p:txBody>
          <a:bodyPr anchor="b"/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9" name="Subtítulo 8"/>
          <p:cNvSpPr>
            <a:spLocks noGrp="1"/>
          </p:cNvSpPr>
          <p:nvPr>
            <p:ph type="subTitle" idx="1"/>
          </p:nvPr>
        </p:nvSpPr>
        <p:spPr>
          <a:xfrm>
            <a:off x="457200" y="3899938"/>
            <a:ext cx="4953000" cy="1752600"/>
          </a:xfrm>
        </p:spPr>
        <p:txBody>
          <a:bodyPr/>
          <a:lstStyle>
            <a:lvl1pPr marL="64008" indent="0" algn="l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pt-BR" smtClean="0"/>
              <a:t>Clique para editar o estilo do subtítulo mestre</a:t>
            </a:r>
            <a:endParaRPr kumimoji="0" lang="en-US"/>
          </a:p>
        </p:txBody>
      </p:sp>
      <p:sp>
        <p:nvSpPr>
          <p:cNvPr id="28" name="Espaço Reservado para Data 27"/>
          <p:cNvSpPr>
            <a:spLocks noGrp="1"/>
          </p:cNvSpPr>
          <p:nvPr>
            <p:ph type="dt" sz="half" idx="10"/>
          </p:nvPr>
        </p:nvSpPr>
        <p:spPr>
          <a:xfrm>
            <a:off x="6705600" y="4206240"/>
            <a:ext cx="960120" cy="457200"/>
          </a:xfrm>
        </p:spPr>
        <p:txBody>
          <a:bodyPr/>
          <a:lstStyle/>
          <a:p>
            <a:fld id="{D5E08FE2-A0C0-4219-8819-47F138731E6E}" type="datetimeFigureOut">
              <a:rPr lang="pt-BR" smtClean="0"/>
              <a:pPr/>
              <a:t>16/09/2011</a:t>
            </a:fld>
            <a:endParaRPr lang="pt-BR"/>
          </a:p>
        </p:txBody>
      </p:sp>
      <p:sp>
        <p:nvSpPr>
          <p:cNvPr id="17" name="Espaço Reservado para Rodapé 16"/>
          <p:cNvSpPr>
            <a:spLocks noGrp="1"/>
          </p:cNvSpPr>
          <p:nvPr>
            <p:ph type="ftr" sz="quarter" idx="11"/>
          </p:nvPr>
        </p:nvSpPr>
        <p:spPr>
          <a:xfrm>
            <a:off x="5410200" y="4205288"/>
            <a:ext cx="1295400" cy="457200"/>
          </a:xfrm>
        </p:spPr>
        <p:txBody>
          <a:bodyPr/>
          <a:lstStyle/>
          <a:p>
            <a:endParaRPr lang="pt-BR"/>
          </a:p>
        </p:txBody>
      </p:sp>
      <p:sp>
        <p:nvSpPr>
          <p:cNvPr id="29" name="Espaço Reservado para Número de Slide 28"/>
          <p:cNvSpPr>
            <a:spLocks noGrp="1"/>
          </p:cNvSpPr>
          <p:nvPr>
            <p:ph type="sldNum" sz="quarter" idx="12"/>
          </p:nvPr>
        </p:nvSpPr>
        <p:spPr>
          <a:xfrm>
            <a:off x="8320088" y="1136"/>
            <a:ext cx="747712" cy="365760"/>
          </a:xfrm>
        </p:spPr>
        <p:txBody>
          <a:bodyPr/>
          <a:lstStyle>
            <a:lvl1pPr algn="r">
              <a:defRPr sz="1800">
                <a:solidFill>
                  <a:schemeClr val="bg1"/>
                </a:solidFill>
              </a:defRPr>
            </a:lvl1pPr>
          </a:lstStyle>
          <a:p>
            <a:fld id="{51E06E0C-11F2-450E-9DBC-3132A10CE1E6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08FE2-A0C0-4219-8819-47F138731E6E}" type="datetimeFigureOut">
              <a:rPr lang="pt-BR" smtClean="0"/>
              <a:pPr/>
              <a:t>16/09/2011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E06E0C-11F2-450E-9DBC-3132A10CE1E6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1981200"/>
            <a:ext cx="7772400" cy="1362075"/>
          </a:xfrm>
        </p:spPr>
        <p:txBody>
          <a:bodyPr anchor="b">
            <a:noAutofit/>
          </a:bodyPr>
          <a:lstStyle>
            <a:lvl1pPr algn="l">
              <a:buNone/>
              <a:defRPr sz="4300" b="1" cap="none" baseline="0">
                <a:ln w="12700">
                  <a:solidFill>
                    <a:schemeClr val="accent2">
                      <a:shade val="90000"/>
                      <a:satMod val="150000"/>
                    </a:schemeClr>
                  </a:solidFill>
                </a:ln>
                <a:solidFill>
                  <a:srgbClr val="FFFFFF"/>
                </a:solidFill>
                <a:effectLst>
                  <a:outerShdw blurRad="38100" dist="381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3367088"/>
            <a:ext cx="7772400" cy="1509712"/>
          </a:xfrm>
        </p:spPr>
        <p:txBody>
          <a:bodyPr anchor="t"/>
          <a:lstStyle>
            <a:lvl1pPr marL="45720" indent="0">
              <a:buNone/>
              <a:defRPr sz="2100" b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08FE2-A0C0-4219-8819-47F138731E6E}" type="datetimeFigureOut">
              <a:rPr lang="pt-BR" smtClean="0"/>
              <a:pPr/>
              <a:t>16/09/2011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E06E0C-11F2-450E-9DBC-3132A10CE1E6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08FE2-A0C0-4219-8819-47F138731E6E}" type="datetimeFigureOut">
              <a:rPr lang="pt-BR" smtClean="0"/>
              <a:pPr/>
              <a:t>16/09/2011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E06E0C-11F2-450E-9DBC-3132A10CE1E6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81000" y="1143000"/>
            <a:ext cx="8382000" cy="1069848"/>
          </a:xfrm>
        </p:spPr>
        <p:txBody>
          <a:bodyPr anchor="ctr"/>
          <a:lstStyle>
            <a:lvl1pPr>
              <a:defRPr sz="4000" b="0" i="0" cap="none" baseline="0"/>
            </a:lvl1pPr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381000" y="2244970"/>
            <a:ext cx="4041648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3"/>
          </p:nvPr>
        </p:nvSpPr>
        <p:spPr>
          <a:xfrm>
            <a:off x="4721225" y="2244970"/>
            <a:ext cx="4041775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  <p:sp>
        <p:nvSpPr>
          <p:cNvPr id="5" name="Espaço Reservado para Conteúdo 4"/>
          <p:cNvSpPr>
            <a:spLocks noGrp="1"/>
          </p:cNvSpPr>
          <p:nvPr>
            <p:ph sz="quarter" idx="2"/>
          </p:nvPr>
        </p:nvSpPr>
        <p:spPr>
          <a:xfrm>
            <a:off x="381000" y="2708519"/>
            <a:ext cx="4041648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718304" y="2708519"/>
            <a:ext cx="4041775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26" name="Espaço Reservado para Data 2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D5E08FE2-A0C0-4219-8819-47F138731E6E}" type="datetimeFigureOut">
              <a:rPr lang="pt-BR" smtClean="0"/>
              <a:pPr/>
              <a:t>16/09/2011</a:t>
            </a:fld>
            <a:endParaRPr lang="pt-BR"/>
          </a:p>
        </p:txBody>
      </p:sp>
      <p:sp>
        <p:nvSpPr>
          <p:cNvPr id="27" name="Espaço Reservado para Número de Slide 2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51E06E0C-11F2-450E-9DBC-3132A10CE1E6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28" name="Espaço Reservado para Rodapé 2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pt-B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9848"/>
          </a:xfrm>
        </p:spPr>
        <p:txBody>
          <a:bodyPr anchor="ctr"/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>
          <a:xfrm>
            <a:off x="6583680" y="612648"/>
            <a:ext cx="957264" cy="457200"/>
          </a:xfrm>
        </p:spPr>
        <p:txBody>
          <a:bodyPr/>
          <a:lstStyle/>
          <a:p>
            <a:fld id="{D5E08FE2-A0C0-4219-8819-47F138731E6E}" type="datetimeFigureOut">
              <a:rPr lang="pt-BR" smtClean="0"/>
              <a:pPr/>
              <a:t>16/09/2011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>
          <a:xfrm>
            <a:off x="5257800" y="612648"/>
            <a:ext cx="1325880" cy="457200"/>
          </a:xfrm>
        </p:spPr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>
          <a:xfrm>
            <a:off x="8174736" y="2272"/>
            <a:ext cx="762000" cy="365760"/>
          </a:xfrm>
        </p:spPr>
        <p:txBody>
          <a:bodyPr/>
          <a:lstStyle/>
          <a:p>
            <a:fld id="{51E06E0C-11F2-450E-9DBC-3132A10CE1E6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08FE2-A0C0-4219-8819-47F138731E6E}" type="datetimeFigureOut">
              <a:rPr lang="pt-BR" smtClean="0"/>
              <a:pPr/>
              <a:t>16/09/2011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E06E0C-11F2-450E-9DBC-3132A10CE1E6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353496" y="1101970"/>
            <a:ext cx="3383280" cy="877824"/>
          </a:xfrm>
        </p:spPr>
        <p:txBody>
          <a:bodyPr anchor="b"/>
          <a:lstStyle>
            <a:lvl1pPr algn="l">
              <a:buNone/>
              <a:defRPr sz="1800" b="1"/>
            </a:lvl1pPr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2"/>
          </p:nvPr>
        </p:nvSpPr>
        <p:spPr>
          <a:xfrm>
            <a:off x="5353496" y="2010727"/>
            <a:ext cx="3383280" cy="4617720"/>
          </a:xfrm>
        </p:spPr>
        <p:txBody>
          <a:bodyPr/>
          <a:lstStyle>
            <a:lvl1pPr marL="9144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1"/>
          </p:nvPr>
        </p:nvSpPr>
        <p:spPr>
          <a:xfrm>
            <a:off x="152400" y="776287"/>
            <a:ext cx="5102352" cy="585216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08FE2-A0C0-4219-8819-47F138731E6E}" type="datetimeFigureOut">
              <a:rPr lang="pt-BR" smtClean="0"/>
              <a:pPr/>
              <a:t>16/09/2011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E06E0C-11F2-450E-9DBC-3132A10CE1E6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440434" y="1109160"/>
            <a:ext cx="586803" cy="4681637"/>
          </a:xfrm>
        </p:spPr>
        <p:txBody>
          <a:bodyPr vert="vert270" lIns="45720" tIns="0" rIns="45720" anchor="t"/>
          <a:lstStyle>
            <a:lvl1pPr algn="ctr">
              <a:buNone/>
              <a:defRPr sz="2000" b="1"/>
            </a:lvl1pPr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403671" y="1143000"/>
            <a:ext cx="4572000" cy="4572000"/>
          </a:xfrm>
          <a:solidFill>
            <a:srgbClr val="EAEAEA"/>
          </a:solidFill>
          <a:ln w="50800">
            <a:solidFill>
              <a:srgbClr val="FFFFFF"/>
            </a:solidFill>
            <a:miter lim="800000"/>
          </a:ln>
          <a:effectLst>
            <a:outerShdw blurRad="57150" dist="31750" dir="4800000" algn="tl" rotWithShape="0">
              <a:srgbClr val="000000">
                <a:alpha val="2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2540">
            <a:bevelT w="25400" h="19050"/>
            <a:contourClr>
              <a:srgbClr val="AEAEAE"/>
            </a:contourClr>
          </a:sp3d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pt-BR" smtClean="0"/>
              <a:t>Clique no ícone para adicionar uma imagem</a:t>
            </a:r>
            <a:endParaRPr kumimoji="0" lang="en-US" dirty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6088443" y="3274308"/>
            <a:ext cx="2590800" cy="2516489"/>
          </a:xfrm>
        </p:spPr>
        <p:txBody>
          <a:bodyPr lIns="0" tIns="0" rIns="45720" anchor="t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3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08FE2-A0C0-4219-8819-47F138731E6E}" type="datetimeFigureOut">
              <a:rPr lang="pt-BR" smtClean="0"/>
              <a:pPr/>
              <a:t>16/09/2011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E06E0C-11F2-450E-9DBC-3132A10CE1E6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08FE2-A0C0-4219-8819-47F138731E6E}" type="datetimeFigureOut">
              <a:rPr lang="pt-BR" smtClean="0"/>
              <a:pPr/>
              <a:t>16/09/2011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E06E0C-11F2-450E-9DBC-3132A10CE1E6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781800" y="1143000"/>
            <a:ext cx="1905000" cy="5486400"/>
          </a:xfrm>
        </p:spPr>
        <p:txBody>
          <a:bodyPr vert="eaVert"/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1143000"/>
            <a:ext cx="6248400" cy="5486400"/>
          </a:xfrm>
        </p:spPr>
        <p:txBody>
          <a:bodyPr vert="eaVert"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08FE2-A0C0-4219-8819-47F138731E6E}" type="datetimeFigureOut">
              <a:rPr lang="pt-BR" smtClean="0"/>
              <a:pPr/>
              <a:t>16/09/2011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E06E0C-11F2-450E-9DBC-3132A10CE1E6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tângulo 27"/>
          <p:cNvSpPr/>
          <p:nvPr/>
        </p:nvSpPr>
        <p:spPr>
          <a:xfrm>
            <a:off x="1" y="366818"/>
            <a:ext cx="9144000" cy="84407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9" name="Retângulo 28"/>
          <p:cNvSpPr/>
          <p:nvPr/>
        </p:nvSpPr>
        <p:spPr>
          <a:xfrm>
            <a:off x="0" y="-1"/>
            <a:ext cx="9144000" cy="310663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0" name="Retângulo 29"/>
          <p:cNvSpPr/>
          <p:nvPr/>
        </p:nvSpPr>
        <p:spPr>
          <a:xfrm>
            <a:off x="0" y="308276"/>
            <a:ext cx="9144001" cy="91441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1" name="Retângulo 30"/>
          <p:cNvSpPr/>
          <p:nvPr/>
        </p:nvSpPr>
        <p:spPr>
          <a:xfrm flipV="1">
            <a:off x="5410182" y="360246"/>
            <a:ext cx="3733819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2" name="Retângulo 31"/>
          <p:cNvSpPr/>
          <p:nvPr/>
        </p:nvSpPr>
        <p:spPr>
          <a:xfrm flipV="1">
            <a:off x="5410200" y="440112"/>
            <a:ext cx="3733801" cy="180035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3" name="Retângulo de cantos arredondados 32"/>
          <p:cNvSpPr/>
          <p:nvPr/>
        </p:nvSpPr>
        <p:spPr bwMode="white">
          <a:xfrm>
            <a:off x="5407339" y="497504"/>
            <a:ext cx="306324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4" name="Retângulo de cantos arredondados 33"/>
          <p:cNvSpPr/>
          <p:nvPr/>
        </p:nvSpPr>
        <p:spPr bwMode="white">
          <a:xfrm>
            <a:off x="7373646" y="588943"/>
            <a:ext cx="16002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5" name="Retângulo 34"/>
          <p:cNvSpPr/>
          <p:nvPr/>
        </p:nvSpPr>
        <p:spPr bwMode="invGray">
          <a:xfrm>
            <a:off x="9084966" y="-2001"/>
            <a:ext cx="57626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6" name="Retângulo 35"/>
          <p:cNvSpPr/>
          <p:nvPr/>
        </p:nvSpPr>
        <p:spPr bwMode="invGray">
          <a:xfrm>
            <a:off x="9044481" y="-2001"/>
            <a:ext cx="27432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7" name="Retângulo 36"/>
          <p:cNvSpPr/>
          <p:nvPr/>
        </p:nvSpPr>
        <p:spPr bwMode="invGray">
          <a:xfrm>
            <a:off x="9025428" y="-2001"/>
            <a:ext cx="9144" cy="621792"/>
          </a:xfrm>
          <a:prstGeom prst="rect">
            <a:avLst/>
          </a:prstGeom>
          <a:solidFill>
            <a:srgbClr val="FFFFFF">
              <a:alpha val="6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8" name="Retângulo 37"/>
          <p:cNvSpPr/>
          <p:nvPr/>
        </p:nvSpPr>
        <p:spPr bwMode="invGray">
          <a:xfrm>
            <a:off x="8975423" y="-2001"/>
            <a:ext cx="27432" cy="621792"/>
          </a:xfrm>
          <a:prstGeom prst="rect">
            <a:avLst/>
          </a:prstGeom>
          <a:solidFill>
            <a:srgbClr val="FFFFFF">
              <a:alpha val="4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9" name="Retângulo 38"/>
          <p:cNvSpPr/>
          <p:nvPr/>
        </p:nvSpPr>
        <p:spPr bwMode="invGray">
          <a:xfrm>
            <a:off x="8915677" y="380"/>
            <a:ext cx="54864" cy="585216"/>
          </a:xfrm>
          <a:prstGeom prst="rect">
            <a:avLst/>
          </a:prstGeom>
          <a:solidFill>
            <a:srgbClr val="FFFFFF">
              <a:alpha val="2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40" name="Retângulo 39"/>
          <p:cNvSpPr/>
          <p:nvPr/>
        </p:nvSpPr>
        <p:spPr bwMode="invGray">
          <a:xfrm>
            <a:off x="8873475" y="380"/>
            <a:ext cx="9144" cy="585216"/>
          </a:xfrm>
          <a:prstGeom prst="rect">
            <a:avLst/>
          </a:prstGeom>
          <a:solidFill>
            <a:srgbClr val="FFFFFF">
              <a:alpha val="30196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Espaço Reservado para Título 2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68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13" name="Espaço Reservado para Texto 12"/>
          <p:cNvSpPr>
            <a:spLocks noGrp="1"/>
          </p:cNvSpPr>
          <p:nvPr>
            <p:ph type="body" idx="1"/>
          </p:nvPr>
        </p:nvSpPr>
        <p:spPr>
          <a:xfrm>
            <a:off x="457200" y="2249424"/>
            <a:ext cx="8229600" cy="432511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  <a:p>
            <a:pPr lvl="1" eaLnBrk="1" latinLnBrk="0" hangingPunct="1"/>
            <a:r>
              <a:rPr kumimoji="0" lang="pt-BR" smtClean="0"/>
              <a:t>Segundo nível</a:t>
            </a:r>
          </a:p>
          <a:p>
            <a:pPr lvl="2" eaLnBrk="1" latinLnBrk="0" hangingPunct="1"/>
            <a:r>
              <a:rPr kumimoji="0" lang="pt-BR" smtClean="0"/>
              <a:t>Terceiro nível</a:t>
            </a:r>
          </a:p>
          <a:p>
            <a:pPr lvl="3" eaLnBrk="1" latinLnBrk="0" hangingPunct="1"/>
            <a:r>
              <a:rPr kumimoji="0" lang="pt-BR" smtClean="0"/>
              <a:t>Quarto nível</a:t>
            </a:r>
          </a:p>
          <a:p>
            <a:pPr lvl="4" eaLnBrk="1" latinLnBrk="0" hangingPunct="1"/>
            <a:r>
              <a:rPr kumimoji="0" lang="pt-BR" smtClean="0"/>
              <a:t>Quinto nível</a:t>
            </a:r>
            <a:endParaRPr kumimoji="0" lang="en-US"/>
          </a:p>
        </p:txBody>
      </p:sp>
      <p:sp>
        <p:nvSpPr>
          <p:cNvPr id="14" name="Espaço Reservado para Data 13"/>
          <p:cNvSpPr>
            <a:spLocks noGrp="1"/>
          </p:cNvSpPr>
          <p:nvPr>
            <p:ph type="dt" sz="half" idx="2"/>
          </p:nvPr>
        </p:nvSpPr>
        <p:spPr>
          <a:xfrm>
            <a:off x="6586536" y="612648"/>
            <a:ext cx="957264" cy="45720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fld id="{D5E08FE2-A0C0-4219-8819-47F138731E6E}" type="datetimeFigureOut">
              <a:rPr lang="pt-BR" smtClean="0"/>
              <a:pPr/>
              <a:t>16/09/2011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3"/>
          </p:nvPr>
        </p:nvSpPr>
        <p:spPr>
          <a:xfrm>
            <a:off x="5257800" y="612648"/>
            <a:ext cx="1325880" cy="45720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endParaRPr lang="pt-BR"/>
          </a:p>
        </p:txBody>
      </p:sp>
      <p:sp>
        <p:nvSpPr>
          <p:cNvPr id="23" name="Espaço Reservado para Número de Slide 22"/>
          <p:cNvSpPr>
            <a:spLocks noGrp="1"/>
          </p:cNvSpPr>
          <p:nvPr>
            <p:ph type="sldNum" sz="quarter" idx="4"/>
          </p:nvPr>
        </p:nvSpPr>
        <p:spPr>
          <a:xfrm>
            <a:off x="8174736" y="2272"/>
            <a:ext cx="762000" cy="365760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800">
                <a:solidFill>
                  <a:srgbClr val="FFFFFF"/>
                </a:solidFill>
              </a:defRPr>
            </a:lvl1pPr>
          </a:lstStyle>
          <a:p>
            <a:fld id="{51E06E0C-11F2-450E-9DBC-3132A10CE1E6}" type="slidenum">
              <a:rPr lang="pt-BR" smtClean="0"/>
              <a:pPr/>
              <a:t>‹nº›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65760" indent="-256032" algn="l" rtl="0" eaLnBrk="1" latinLnBrk="0" hangingPunct="1">
        <a:spcBef>
          <a:spcPts val="300"/>
        </a:spcBef>
        <a:buClr>
          <a:schemeClr val="accent3"/>
        </a:buClr>
        <a:buFont typeface="Georgia"/>
        <a:buChar char="•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58368" indent="-246888" algn="l" rtl="0" eaLnBrk="1" latinLnBrk="0" hangingPunct="1">
        <a:spcBef>
          <a:spcPts val="300"/>
        </a:spcBef>
        <a:buClr>
          <a:schemeClr val="accent2"/>
        </a:buClr>
        <a:buFont typeface="Georgia"/>
        <a:buChar char="▫"/>
        <a:defRPr kumimoji="0" sz="2600" kern="1200">
          <a:solidFill>
            <a:schemeClr val="accent2"/>
          </a:solidFill>
          <a:latin typeface="+mn-lt"/>
          <a:ea typeface="+mn-ea"/>
          <a:cs typeface="+mn-cs"/>
        </a:defRPr>
      </a:lvl2pPr>
      <a:lvl3pPr marL="923544" indent="-219456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4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179576" indent="-201168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2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38988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2000" kern="1200">
          <a:solidFill>
            <a:schemeClr val="accent3"/>
          </a:solidFill>
          <a:latin typeface="+mn-lt"/>
          <a:ea typeface="+mn-ea"/>
          <a:cs typeface="+mn-cs"/>
        </a:defRPr>
      </a:lvl5pPr>
      <a:lvl6pPr marL="1609344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800" kern="1200">
          <a:solidFill>
            <a:schemeClr val="accent3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600" kern="1200">
          <a:solidFill>
            <a:schemeClr val="accent3"/>
          </a:solidFill>
          <a:latin typeface="+mn-lt"/>
          <a:ea typeface="+mn-ea"/>
          <a:cs typeface="+mn-cs"/>
        </a:defRPr>
      </a:lvl7pPr>
      <a:lvl8pPr marL="202996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500" kern="1200">
          <a:solidFill>
            <a:schemeClr val="accent3"/>
          </a:solidFill>
          <a:latin typeface="+mn-lt"/>
          <a:ea typeface="+mn-ea"/>
          <a:cs typeface="+mn-cs"/>
        </a:defRPr>
      </a:lvl8pPr>
      <a:lvl9pPr marL="224028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400" kern="1200" baseline="0">
          <a:solidFill>
            <a:schemeClr val="accent3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 smtClean="0"/>
              <a:t>Funções de Entrada e Saída</a:t>
            </a:r>
            <a:endParaRPr lang="pt-BR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979712" y="4509120"/>
            <a:ext cx="4953000" cy="1752600"/>
          </a:xfrm>
        </p:spPr>
        <p:txBody>
          <a:bodyPr/>
          <a:lstStyle/>
          <a:p>
            <a:pPr algn="ctr"/>
            <a:r>
              <a:rPr lang="pt-BR" dirty="0" smtClean="0"/>
              <a:t> Na Linguagem C:</a:t>
            </a:r>
          </a:p>
          <a:p>
            <a:pPr algn="ctr"/>
            <a:r>
              <a:rPr lang="pt-BR" dirty="0" smtClean="0"/>
              <a:t> </a:t>
            </a:r>
            <a:r>
              <a:rPr lang="pt-BR" dirty="0" err="1" smtClean="0"/>
              <a:t>printf</a:t>
            </a:r>
            <a:r>
              <a:rPr lang="pt-BR" dirty="0" smtClean="0"/>
              <a:t>() e </a:t>
            </a:r>
            <a:r>
              <a:rPr lang="pt-BR" dirty="0" err="1" smtClean="0"/>
              <a:t>scanf</a:t>
            </a:r>
            <a:r>
              <a:rPr lang="pt-BR" dirty="0" smtClean="0"/>
              <a:t>()</a:t>
            </a:r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</a:t>
            </a:r>
            <a:r>
              <a:rPr lang="pt-BR" dirty="0" smtClean="0"/>
              <a:t>unções </a:t>
            </a:r>
            <a:r>
              <a:rPr lang="pt-BR" b="1" dirty="0" err="1" smtClean="0">
                <a:cs typeface="Courier New" pitchFamily="49" charset="0"/>
              </a:rPr>
              <a:t>printf</a:t>
            </a:r>
            <a:r>
              <a:rPr lang="pt-BR" b="1" dirty="0" smtClean="0">
                <a:cs typeface="Courier New" pitchFamily="49" charset="0"/>
              </a:rPr>
              <a:t>()</a:t>
            </a:r>
            <a:r>
              <a:rPr lang="pt-BR" dirty="0" smtClean="0">
                <a:cs typeface="Courier New" pitchFamily="49" charset="0"/>
              </a:rPr>
              <a:t> </a:t>
            </a:r>
            <a:r>
              <a:rPr lang="pt-BR" dirty="0" smtClean="0"/>
              <a:t>e </a:t>
            </a:r>
            <a:r>
              <a:rPr lang="pt-BR" b="1" dirty="0" err="1" smtClean="0">
                <a:cs typeface="Courier New" pitchFamily="49" charset="0"/>
              </a:rPr>
              <a:t>scanf</a:t>
            </a:r>
            <a:r>
              <a:rPr lang="pt-BR" b="1" dirty="0" smtClean="0">
                <a:cs typeface="Courier New" pitchFamily="49" charset="0"/>
              </a:rPr>
              <a:t>().</a:t>
            </a:r>
            <a:endParaRPr lang="pt-BR" b="1" dirty="0">
              <a:cs typeface="Courier New" pitchFamily="49" charset="0"/>
            </a:endParaRPr>
          </a:p>
        </p:txBody>
      </p:sp>
      <p:sp>
        <p:nvSpPr>
          <p:cNvPr id="4" name="Espaço Reservado para Conteúdo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As funções </a:t>
            </a:r>
            <a:r>
              <a:rPr lang="pt-BR" dirty="0" err="1" smtClean="0"/>
              <a:t>printf</a:t>
            </a:r>
            <a:r>
              <a:rPr lang="pt-BR" dirty="0" smtClean="0"/>
              <a:t>() e </a:t>
            </a:r>
            <a:r>
              <a:rPr lang="pt-BR" dirty="0" err="1" smtClean="0"/>
              <a:t>scanf</a:t>
            </a:r>
            <a:r>
              <a:rPr lang="pt-BR" dirty="0" smtClean="0"/>
              <a:t>() fazem parte da biblioteca padrão de entrada e saída (</a:t>
            </a:r>
            <a:r>
              <a:rPr lang="pt-BR" i="1" dirty="0" err="1" smtClean="0"/>
              <a:t>stdio</a:t>
            </a:r>
            <a:r>
              <a:rPr lang="pt-BR" i="1" dirty="0" smtClean="0"/>
              <a:t>.h</a:t>
            </a:r>
            <a:r>
              <a:rPr lang="pt-BR" dirty="0" smtClean="0"/>
              <a:t> ou </a:t>
            </a:r>
            <a:r>
              <a:rPr lang="pt-BR" i="1" dirty="0" err="1" smtClean="0"/>
              <a:t>cstdio</a:t>
            </a:r>
            <a:r>
              <a:rPr lang="pt-BR" dirty="0" smtClean="0"/>
              <a:t>).</a:t>
            </a:r>
          </a:p>
          <a:p>
            <a:r>
              <a:rPr lang="pt-BR" dirty="0" smtClean="0"/>
              <a:t>O objetivo dessas funções é gerenciar entrada/saída de dados através de um formato definido na chamada da função.</a:t>
            </a:r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 smtClean="0"/>
              <a:t>printf</a:t>
            </a:r>
            <a:r>
              <a:rPr lang="pt-BR" dirty="0" smtClean="0"/>
              <a:t>()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err="1" smtClean="0"/>
              <a:t>printf</a:t>
            </a:r>
            <a:r>
              <a:rPr lang="pt-BR" dirty="0" smtClean="0"/>
              <a:t>() gera saída de dados formatados para a tela do console.</a:t>
            </a:r>
          </a:p>
          <a:p>
            <a:r>
              <a:rPr lang="pt-BR" dirty="0" smtClean="0"/>
              <a:t>O protótipo da função </a:t>
            </a:r>
            <a:r>
              <a:rPr lang="pt-BR" dirty="0" err="1" smtClean="0"/>
              <a:t>printf</a:t>
            </a:r>
            <a:r>
              <a:rPr lang="pt-BR" dirty="0" smtClean="0"/>
              <a:t>() é:</a:t>
            </a:r>
          </a:p>
          <a:p>
            <a:endParaRPr lang="pt-BR" dirty="0" smtClean="0"/>
          </a:p>
          <a:p>
            <a:endParaRPr lang="pt-BR" dirty="0" smtClean="0"/>
          </a:p>
          <a:p>
            <a:r>
              <a:rPr lang="pt-BR" dirty="0" smtClean="0"/>
              <a:t>Em caso de sucesso em sua execução, </a:t>
            </a:r>
            <a:r>
              <a:rPr lang="pt-BR" dirty="0" err="1" smtClean="0"/>
              <a:t>printf</a:t>
            </a:r>
            <a:r>
              <a:rPr lang="pt-BR" dirty="0" smtClean="0"/>
              <a:t>() retorna o numero de caracteres exibidos. Em caso de falha retorna um número negativo.</a:t>
            </a:r>
          </a:p>
          <a:p>
            <a:endParaRPr lang="pt-BR" dirty="0" smtClean="0"/>
          </a:p>
        </p:txBody>
      </p:sp>
      <p:sp>
        <p:nvSpPr>
          <p:cNvPr id="4" name="CaixaDeTexto 3"/>
          <p:cNvSpPr txBox="1"/>
          <p:nvPr/>
        </p:nvSpPr>
        <p:spPr>
          <a:xfrm>
            <a:off x="1000100" y="3786190"/>
            <a:ext cx="7215238" cy="36933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b="1" dirty="0" err="1">
                <a:latin typeface="Lucida Console" pitchFamily="49" charset="0"/>
                <a:cs typeface="Courier New" pitchFamily="49" charset="0"/>
              </a:rPr>
              <a:t>i</a:t>
            </a:r>
            <a:r>
              <a:rPr lang="pt-BR" b="1" dirty="0" err="1" smtClean="0">
                <a:latin typeface="Lucida Console" pitchFamily="49" charset="0"/>
                <a:cs typeface="Courier New" pitchFamily="49" charset="0"/>
              </a:rPr>
              <a:t>nt</a:t>
            </a:r>
            <a:r>
              <a:rPr lang="pt-BR" dirty="0" smtClean="0">
                <a:latin typeface="Lucida Console" pitchFamily="49" charset="0"/>
                <a:cs typeface="Courier New" pitchFamily="49" charset="0"/>
              </a:rPr>
              <a:t> </a:t>
            </a:r>
            <a:r>
              <a:rPr lang="pt-BR" dirty="0" err="1" smtClean="0">
                <a:latin typeface="Lucida Console" pitchFamily="49" charset="0"/>
                <a:cs typeface="Courier New" pitchFamily="49" charset="0"/>
              </a:rPr>
              <a:t>printf</a:t>
            </a:r>
            <a:r>
              <a:rPr lang="pt-BR" dirty="0" smtClean="0">
                <a:latin typeface="Lucida Console" pitchFamily="49" charset="0"/>
                <a:cs typeface="Courier New" pitchFamily="49" charset="0"/>
              </a:rPr>
              <a:t> </a:t>
            </a:r>
            <a:r>
              <a:rPr lang="pt-BR" b="1" dirty="0" smtClean="0">
                <a:latin typeface="Lucida Console" pitchFamily="49" charset="0"/>
                <a:cs typeface="Courier New" pitchFamily="49" charset="0"/>
              </a:rPr>
              <a:t>(</a:t>
            </a:r>
            <a:r>
              <a:rPr lang="pt-BR" dirty="0" err="1" smtClean="0">
                <a:latin typeface="Lucida Console" pitchFamily="49" charset="0"/>
                <a:cs typeface="Courier New" pitchFamily="49" charset="0"/>
              </a:rPr>
              <a:t>const</a:t>
            </a:r>
            <a:r>
              <a:rPr lang="pt-BR" dirty="0" smtClean="0">
                <a:latin typeface="Lucida Console" pitchFamily="49" charset="0"/>
                <a:cs typeface="Courier New" pitchFamily="49" charset="0"/>
              </a:rPr>
              <a:t> </a:t>
            </a:r>
            <a:r>
              <a:rPr lang="pt-BR" dirty="0" err="1" smtClean="0">
                <a:latin typeface="Lucida Console" pitchFamily="49" charset="0"/>
                <a:cs typeface="Courier New" pitchFamily="49" charset="0"/>
              </a:rPr>
              <a:t>char</a:t>
            </a:r>
            <a:r>
              <a:rPr lang="pt-BR" dirty="0" smtClean="0">
                <a:latin typeface="Lucida Console" pitchFamily="49" charset="0"/>
                <a:cs typeface="Courier New" pitchFamily="49" charset="0"/>
              </a:rPr>
              <a:t>* formato</a:t>
            </a:r>
            <a:r>
              <a:rPr lang="pt-BR" i="1" dirty="0" smtClean="0">
                <a:latin typeface="Lucida Console" pitchFamily="49" charset="0"/>
                <a:cs typeface="Courier New" pitchFamily="49" charset="0"/>
              </a:rPr>
              <a:t>, </a:t>
            </a:r>
            <a:r>
              <a:rPr lang="pt-BR" dirty="0" smtClean="0">
                <a:latin typeface="Lucida Console" pitchFamily="49" charset="0"/>
                <a:cs typeface="Courier New" pitchFamily="49" charset="0"/>
              </a:rPr>
              <a:t>...</a:t>
            </a:r>
            <a:r>
              <a:rPr lang="pt-BR" b="1" dirty="0" smtClean="0">
                <a:latin typeface="Lucida Console" pitchFamily="49" charset="0"/>
                <a:cs typeface="Courier New" pitchFamily="49" charset="0"/>
              </a:rPr>
              <a:t>)</a:t>
            </a:r>
            <a:endParaRPr lang="pt-BR" dirty="0">
              <a:latin typeface="Lucida Console" pitchFamily="49" charset="0"/>
              <a:cs typeface="Courier New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 smtClean="0"/>
              <a:t>printf</a:t>
            </a:r>
            <a:r>
              <a:rPr lang="pt-BR" dirty="0" smtClean="0"/>
              <a:t>() – Formatação 1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Esta função permite o uso de máscaras para mostrar saída em um determinado formato.</a:t>
            </a:r>
          </a:p>
          <a:p>
            <a:r>
              <a:rPr lang="pt-BR" dirty="0" smtClean="0"/>
              <a:t>Exemplos:</a:t>
            </a:r>
          </a:p>
        </p:txBody>
      </p:sp>
      <p:sp>
        <p:nvSpPr>
          <p:cNvPr id="5" name="CaixaDeTexto 4"/>
          <p:cNvSpPr txBox="1"/>
          <p:nvPr/>
        </p:nvSpPr>
        <p:spPr>
          <a:xfrm>
            <a:off x="857224" y="3692444"/>
            <a:ext cx="7215238" cy="2308324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pt-BR" dirty="0" smtClean="0">
              <a:latin typeface="Lucida Console" pitchFamily="49" charset="0"/>
              <a:cs typeface="Courier New" pitchFamily="49" charset="0"/>
            </a:endParaRPr>
          </a:p>
          <a:p>
            <a:r>
              <a:rPr lang="pt-BR" dirty="0" smtClean="0">
                <a:latin typeface="Lucida Console" pitchFamily="49" charset="0"/>
                <a:cs typeface="Courier New" pitchFamily="49" charset="0"/>
              </a:rPr>
              <a:t>%d – Exibe um número inteiro em base decimal</a:t>
            </a:r>
          </a:p>
          <a:p>
            <a:r>
              <a:rPr lang="pt-BR" dirty="0" smtClean="0">
                <a:latin typeface="Lucida Console" pitchFamily="49" charset="0"/>
                <a:cs typeface="Courier New" pitchFamily="49" charset="0"/>
              </a:rPr>
              <a:t>%x – Exibe um número inteiro em base hexadecimal</a:t>
            </a:r>
          </a:p>
          <a:p>
            <a:r>
              <a:rPr lang="pt-BR" dirty="0" smtClean="0">
                <a:latin typeface="Lucida Console" pitchFamily="49" charset="0"/>
                <a:cs typeface="Courier New" pitchFamily="49" charset="0"/>
              </a:rPr>
              <a:t>%o – Exibe um número inteiro em base </a:t>
            </a:r>
            <a:r>
              <a:rPr lang="pt-BR" dirty="0" err="1" smtClean="0">
                <a:latin typeface="Lucida Console" pitchFamily="49" charset="0"/>
                <a:cs typeface="Courier New" pitchFamily="49" charset="0"/>
              </a:rPr>
              <a:t>octal</a:t>
            </a:r>
            <a:endParaRPr lang="pt-BR" dirty="0" smtClean="0">
              <a:latin typeface="Lucida Console" pitchFamily="49" charset="0"/>
              <a:cs typeface="Courier New" pitchFamily="49" charset="0"/>
            </a:endParaRPr>
          </a:p>
          <a:p>
            <a:r>
              <a:rPr lang="pt-BR" dirty="0" smtClean="0">
                <a:latin typeface="Lucida Console" pitchFamily="49" charset="0"/>
                <a:cs typeface="Courier New" pitchFamily="49" charset="0"/>
              </a:rPr>
              <a:t>%f – Exibe um número real</a:t>
            </a:r>
          </a:p>
          <a:p>
            <a:r>
              <a:rPr lang="pt-BR" dirty="0" smtClean="0">
                <a:latin typeface="Lucida Console" pitchFamily="49" charset="0"/>
                <a:cs typeface="Courier New" pitchFamily="49" charset="0"/>
              </a:rPr>
              <a:t>%c – Exibe um único caractere</a:t>
            </a:r>
          </a:p>
          <a:p>
            <a:r>
              <a:rPr lang="pt-BR" dirty="0" smtClean="0">
                <a:latin typeface="Lucida Console" pitchFamily="49" charset="0"/>
                <a:cs typeface="Courier New" pitchFamily="49" charset="0"/>
              </a:rPr>
              <a:t>%s – Exibe uma cadeia de caracteres</a:t>
            </a:r>
          </a:p>
          <a:p>
            <a:endParaRPr lang="pt-BR" dirty="0">
              <a:latin typeface="Lucida Console" pitchFamily="49" charset="0"/>
              <a:cs typeface="Courier New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 smtClean="0"/>
              <a:t>printf</a:t>
            </a:r>
            <a:r>
              <a:rPr lang="pt-BR" dirty="0" smtClean="0"/>
              <a:t>() – Formatação 2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Podem ser adicionados alguns parâmetros às máscaras para limitar o comprimento de um valor e/ou sua precisão. Exemplos:</a:t>
            </a:r>
          </a:p>
          <a:p>
            <a:pPr>
              <a:buNone/>
            </a:pPr>
            <a:endParaRPr lang="pt-BR" dirty="0" smtClean="0"/>
          </a:p>
        </p:txBody>
      </p:sp>
      <p:sp>
        <p:nvSpPr>
          <p:cNvPr id="7" name="CaixaDeTexto 6"/>
          <p:cNvSpPr txBox="1"/>
          <p:nvPr/>
        </p:nvSpPr>
        <p:spPr>
          <a:xfrm>
            <a:off x="857224" y="3643314"/>
            <a:ext cx="7215238" cy="286232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pt-BR" dirty="0" smtClean="0">
              <a:latin typeface="Lucida Console" pitchFamily="49" charset="0"/>
              <a:cs typeface="Courier New" pitchFamily="49" charset="0"/>
            </a:endParaRPr>
          </a:p>
          <a:p>
            <a:r>
              <a:rPr lang="pt-BR" dirty="0" smtClean="0">
                <a:latin typeface="Lucida Console" pitchFamily="49" charset="0"/>
                <a:cs typeface="Courier New" pitchFamily="49" charset="0"/>
              </a:rPr>
              <a:t>%9d  – Exibe um número inteiro com o comprimento de 9 dígitos.</a:t>
            </a:r>
          </a:p>
          <a:p>
            <a:endParaRPr lang="pt-BR" dirty="0" smtClean="0">
              <a:latin typeface="Lucida Console" pitchFamily="49" charset="0"/>
              <a:cs typeface="Courier New" pitchFamily="49" charset="0"/>
            </a:endParaRPr>
          </a:p>
          <a:p>
            <a:r>
              <a:rPr lang="pt-BR" dirty="0" smtClean="0">
                <a:latin typeface="Lucida Console" pitchFamily="49" charset="0"/>
                <a:cs typeface="Courier New" pitchFamily="49" charset="0"/>
              </a:rPr>
              <a:t>%.2f – Exibe um número real com somente duas casas decimais.</a:t>
            </a:r>
          </a:p>
          <a:p>
            <a:endParaRPr lang="pt-BR" dirty="0" smtClean="0">
              <a:latin typeface="Lucida Console" pitchFamily="49" charset="0"/>
              <a:cs typeface="Courier New" pitchFamily="49" charset="0"/>
            </a:endParaRPr>
          </a:p>
          <a:p>
            <a:r>
              <a:rPr lang="pt-BR" dirty="0" smtClean="0">
                <a:latin typeface="Lucida Console" pitchFamily="49" charset="0"/>
                <a:cs typeface="Courier New" pitchFamily="49" charset="0"/>
              </a:rPr>
              <a:t>%03d – Exibe um número inteiro com o comprimento de 3 dígitos onde os espaços vazios são completados com o número 0.</a:t>
            </a:r>
            <a:endParaRPr lang="pt-BR" dirty="0">
              <a:latin typeface="Lucida Console" pitchFamily="49" charset="0"/>
              <a:cs typeface="Courier New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 smtClean="0"/>
              <a:t>printf</a:t>
            </a:r>
            <a:r>
              <a:rPr lang="pt-BR" dirty="0" smtClean="0"/>
              <a:t>() – Exemplo 1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Para exibir uma linha de texto qualquer pode-se usar a função desta forma:</a:t>
            </a:r>
            <a:endParaRPr lang="pt-BR" dirty="0"/>
          </a:p>
        </p:txBody>
      </p:sp>
      <p:sp>
        <p:nvSpPr>
          <p:cNvPr id="4" name="CaixaDeTexto 3"/>
          <p:cNvSpPr txBox="1"/>
          <p:nvPr/>
        </p:nvSpPr>
        <p:spPr>
          <a:xfrm>
            <a:off x="928662" y="3214686"/>
            <a:ext cx="7500990" cy="36933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dirty="0" err="1" smtClean="0">
                <a:latin typeface="Courier New" pitchFamily="49" charset="0"/>
                <a:cs typeface="Courier New" pitchFamily="49" charset="0"/>
              </a:rPr>
              <a:t>printf</a:t>
            </a:r>
            <a:r>
              <a:rPr lang="pt-BR" dirty="0" smtClean="0">
                <a:latin typeface="Courier New" pitchFamily="49" charset="0"/>
                <a:cs typeface="Courier New" pitchFamily="49" charset="0"/>
              </a:rPr>
              <a:t>(</a:t>
            </a:r>
            <a:r>
              <a:rPr lang="pt-BR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"Ola mundo!"</a:t>
            </a:r>
            <a:r>
              <a:rPr lang="pt-BR" dirty="0" smtClean="0">
                <a:latin typeface="Courier New" pitchFamily="49" charset="0"/>
                <a:cs typeface="Courier New" pitchFamily="49" charset="0"/>
              </a:rPr>
              <a:t>);</a:t>
            </a:r>
            <a:endParaRPr lang="pt-BR" dirty="0">
              <a:latin typeface="Courier New" pitchFamily="49" charset="0"/>
              <a:cs typeface="Courier New" pitchFamily="49" charset="0"/>
            </a:endParaRP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714612" y="3786190"/>
            <a:ext cx="3933825" cy="2581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 smtClean="0"/>
              <a:t>printf</a:t>
            </a:r>
            <a:r>
              <a:rPr lang="pt-BR" dirty="0" smtClean="0"/>
              <a:t>() – Exemplo 2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Exibindo o valor de variáveis do tipo </a:t>
            </a:r>
            <a:r>
              <a:rPr lang="pt-BR" b="1" dirty="0" err="1" smtClean="0"/>
              <a:t>int</a:t>
            </a:r>
            <a:r>
              <a:rPr lang="pt-BR" dirty="0" smtClean="0"/>
              <a:t>:</a:t>
            </a:r>
            <a:endParaRPr lang="pt-BR" dirty="0"/>
          </a:p>
        </p:txBody>
      </p:sp>
      <p:sp>
        <p:nvSpPr>
          <p:cNvPr id="4" name="CaixaDeTexto 3"/>
          <p:cNvSpPr txBox="1"/>
          <p:nvPr/>
        </p:nvSpPr>
        <p:spPr>
          <a:xfrm>
            <a:off x="928662" y="2857496"/>
            <a:ext cx="7500990" cy="1477328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b="1" dirty="0" err="1" smtClean="0">
                <a:latin typeface="Courier New" pitchFamily="49" charset="0"/>
                <a:cs typeface="Courier New" pitchFamily="49" charset="0"/>
              </a:rPr>
              <a:t>int</a:t>
            </a:r>
            <a:r>
              <a:rPr lang="pt-BR" dirty="0" smtClean="0">
                <a:latin typeface="Courier New" pitchFamily="49" charset="0"/>
                <a:cs typeface="Courier New" pitchFamily="49" charset="0"/>
              </a:rPr>
              <a:t> n1 = </a:t>
            </a:r>
            <a:r>
              <a:rPr lang="pt-BR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27</a:t>
            </a:r>
            <a:r>
              <a:rPr lang="pt-BR" dirty="0" smtClean="0">
                <a:latin typeface="Courier New" pitchFamily="49" charset="0"/>
                <a:cs typeface="Courier New" pitchFamily="49" charset="0"/>
              </a:rPr>
              <a:t>;</a:t>
            </a:r>
          </a:p>
          <a:p>
            <a:r>
              <a:rPr lang="pt-BR" dirty="0" err="1" smtClean="0">
                <a:latin typeface="Courier New" pitchFamily="49" charset="0"/>
                <a:cs typeface="Courier New" pitchFamily="49" charset="0"/>
              </a:rPr>
              <a:t>printf</a:t>
            </a:r>
            <a:r>
              <a:rPr lang="pt-BR" dirty="0" smtClean="0">
                <a:latin typeface="Courier New" pitchFamily="49" charset="0"/>
                <a:cs typeface="Courier New" pitchFamily="49" charset="0"/>
              </a:rPr>
              <a:t>(</a:t>
            </a:r>
            <a:r>
              <a:rPr lang="pt-BR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"O valor de n1: %d\n"</a:t>
            </a:r>
            <a:r>
              <a:rPr lang="pt-BR" dirty="0" smtClean="0">
                <a:latin typeface="Courier New" pitchFamily="49" charset="0"/>
                <a:cs typeface="Courier New" pitchFamily="49" charset="0"/>
              </a:rPr>
              <a:t>,n1);</a:t>
            </a:r>
          </a:p>
          <a:p>
            <a:r>
              <a:rPr lang="pt-BR" dirty="0" err="1" smtClean="0">
                <a:latin typeface="Courier New" pitchFamily="49" charset="0"/>
                <a:cs typeface="Courier New" pitchFamily="49" charset="0"/>
              </a:rPr>
              <a:t>printf</a:t>
            </a:r>
            <a:r>
              <a:rPr lang="pt-BR" dirty="0" smtClean="0">
                <a:latin typeface="Courier New" pitchFamily="49" charset="0"/>
                <a:cs typeface="Courier New" pitchFamily="49" charset="0"/>
              </a:rPr>
              <a:t>(</a:t>
            </a:r>
            <a:r>
              <a:rPr lang="pt-BR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"O valor de n1 em base hexadecimal: %x\n"</a:t>
            </a:r>
            <a:r>
              <a:rPr lang="pt-BR" dirty="0" smtClean="0">
                <a:latin typeface="Courier New" pitchFamily="49" charset="0"/>
                <a:cs typeface="Courier New" pitchFamily="49" charset="0"/>
              </a:rPr>
              <a:t>,n1);</a:t>
            </a:r>
          </a:p>
          <a:p>
            <a:r>
              <a:rPr lang="pt-BR" dirty="0" err="1" smtClean="0">
                <a:latin typeface="Courier New" pitchFamily="49" charset="0"/>
                <a:cs typeface="Courier New" pitchFamily="49" charset="0"/>
              </a:rPr>
              <a:t>printf</a:t>
            </a:r>
            <a:r>
              <a:rPr lang="pt-BR" dirty="0" smtClean="0">
                <a:latin typeface="Courier New" pitchFamily="49" charset="0"/>
                <a:cs typeface="Courier New" pitchFamily="49" charset="0"/>
              </a:rPr>
              <a:t>(</a:t>
            </a:r>
            <a:r>
              <a:rPr lang="pt-BR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"O valor de n1 em base </a:t>
            </a:r>
            <a:r>
              <a:rPr lang="pt-BR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octal</a:t>
            </a:r>
            <a:r>
              <a:rPr lang="pt-BR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: %o\n"</a:t>
            </a:r>
            <a:r>
              <a:rPr lang="pt-BR" dirty="0" smtClean="0">
                <a:latin typeface="Courier New" pitchFamily="49" charset="0"/>
                <a:cs typeface="Courier New" pitchFamily="49" charset="0"/>
              </a:rPr>
              <a:t>,n1);</a:t>
            </a:r>
          </a:p>
          <a:p>
            <a:r>
              <a:rPr lang="pt-BR" dirty="0" err="1" smtClean="0">
                <a:latin typeface="Courier New" pitchFamily="49" charset="0"/>
                <a:cs typeface="Courier New" pitchFamily="49" charset="0"/>
              </a:rPr>
              <a:t>printf</a:t>
            </a:r>
            <a:r>
              <a:rPr lang="pt-BR" dirty="0" smtClean="0">
                <a:latin typeface="Courier New" pitchFamily="49" charset="0"/>
                <a:cs typeface="Courier New" pitchFamily="49" charset="0"/>
              </a:rPr>
              <a:t>(</a:t>
            </a:r>
            <a:r>
              <a:rPr lang="pt-BR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"O valor de n1 com 5 </a:t>
            </a:r>
            <a:r>
              <a:rPr lang="pt-BR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digitos</a:t>
            </a:r>
            <a:r>
              <a:rPr lang="pt-BR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: %05d\n"</a:t>
            </a:r>
            <a:r>
              <a:rPr lang="pt-BR" dirty="0" smtClean="0">
                <a:latin typeface="Courier New" pitchFamily="49" charset="0"/>
                <a:cs typeface="Courier New" pitchFamily="49" charset="0"/>
              </a:rPr>
              <a:t>,n1);</a:t>
            </a:r>
            <a:endParaRPr lang="pt-BR" dirty="0">
              <a:latin typeface="Courier New" pitchFamily="49" charset="0"/>
              <a:cs typeface="Courier New" pitchFamily="49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643174" y="4643446"/>
            <a:ext cx="4010025" cy="178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 smtClean="0"/>
              <a:t>printf</a:t>
            </a:r>
            <a:r>
              <a:rPr lang="pt-BR" dirty="0" smtClean="0"/>
              <a:t>() – Exemplo 3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Exibindo o valor de variáveis do tipo </a:t>
            </a:r>
            <a:r>
              <a:rPr lang="pt-BR" b="1" dirty="0" err="1" smtClean="0"/>
              <a:t>char</a:t>
            </a:r>
            <a:r>
              <a:rPr lang="pt-BR" dirty="0" smtClean="0"/>
              <a:t>:</a:t>
            </a:r>
            <a:endParaRPr lang="pt-BR" dirty="0"/>
          </a:p>
        </p:txBody>
      </p:sp>
      <p:sp>
        <p:nvSpPr>
          <p:cNvPr id="4" name="CaixaDeTexto 3"/>
          <p:cNvSpPr txBox="1"/>
          <p:nvPr/>
        </p:nvSpPr>
        <p:spPr>
          <a:xfrm>
            <a:off x="928662" y="2857496"/>
            <a:ext cx="7500990" cy="1200329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b="1" dirty="0" err="1" smtClean="0">
                <a:latin typeface="Courier New" pitchFamily="49" charset="0"/>
                <a:cs typeface="Courier New" pitchFamily="49" charset="0"/>
              </a:rPr>
              <a:t>char</a:t>
            </a:r>
            <a:r>
              <a:rPr lang="pt-BR" dirty="0" smtClean="0">
                <a:latin typeface="Courier New" pitchFamily="49" charset="0"/>
                <a:cs typeface="Courier New" pitchFamily="49" charset="0"/>
              </a:rPr>
              <a:t> c1 = </a:t>
            </a:r>
            <a:r>
              <a:rPr lang="pt-BR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'M'</a:t>
            </a:r>
            <a:r>
              <a:rPr lang="pt-BR" dirty="0" smtClean="0">
                <a:latin typeface="Courier New" pitchFamily="49" charset="0"/>
                <a:cs typeface="Courier New" pitchFamily="49" charset="0"/>
              </a:rPr>
              <a:t>;</a:t>
            </a:r>
          </a:p>
          <a:p>
            <a:r>
              <a:rPr lang="pt-BR" b="1" dirty="0" err="1" smtClean="0">
                <a:latin typeface="Courier New" pitchFamily="49" charset="0"/>
                <a:cs typeface="Courier New" pitchFamily="49" charset="0"/>
              </a:rPr>
              <a:t>char</a:t>
            </a:r>
            <a:r>
              <a:rPr lang="pt-BR" dirty="0" smtClean="0">
                <a:latin typeface="Courier New" pitchFamily="49" charset="0"/>
                <a:cs typeface="Courier New" pitchFamily="49" charset="0"/>
              </a:rPr>
              <a:t> c2[</a:t>
            </a:r>
            <a:r>
              <a:rPr lang="pt-BR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8</a:t>
            </a:r>
            <a:r>
              <a:rPr lang="pt-BR" dirty="0" smtClean="0">
                <a:latin typeface="Courier New" pitchFamily="49" charset="0"/>
                <a:cs typeface="Courier New" pitchFamily="49" charset="0"/>
              </a:rPr>
              <a:t>] = </a:t>
            </a:r>
            <a:r>
              <a:rPr lang="pt-BR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"Marcelo"</a:t>
            </a:r>
            <a:r>
              <a:rPr lang="pt-BR" dirty="0" smtClean="0">
                <a:latin typeface="Courier New" pitchFamily="49" charset="0"/>
                <a:cs typeface="Courier New" pitchFamily="49" charset="0"/>
              </a:rPr>
              <a:t>;</a:t>
            </a:r>
          </a:p>
          <a:p>
            <a:r>
              <a:rPr lang="pt-BR" dirty="0" err="1" smtClean="0">
                <a:latin typeface="Courier New" pitchFamily="49" charset="0"/>
                <a:cs typeface="Courier New" pitchFamily="49" charset="0"/>
              </a:rPr>
              <a:t>printf</a:t>
            </a:r>
            <a:r>
              <a:rPr lang="pt-BR" dirty="0" smtClean="0">
                <a:latin typeface="Courier New" pitchFamily="49" charset="0"/>
                <a:cs typeface="Courier New" pitchFamily="49" charset="0"/>
              </a:rPr>
              <a:t>(</a:t>
            </a:r>
            <a:r>
              <a:rPr lang="pt-BR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"A primeira letra do meu nome e %c.\n"</a:t>
            </a:r>
            <a:r>
              <a:rPr lang="pt-BR" dirty="0" smtClean="0">
                <a:latin typeface="Courier New" pitchFamily="49" charset="0"/>
                <a:cs typeface="Courier New" pitchFamily="49" charset="0"/>
              </a:rPr>
              <a:t>,c1);</a:t>
            </a:r>
          </a:p>
          <a:p>
            <a:r>
              <a:rPr lang="pt-BR" dirty="0" err="1" smtClean="0">
                <a:latin typeface="Courier New" pitchFamily="49" charset="0"/>
                <a:cs typeface="Courier New" pitchFamily="49" charset="0"/>
              </a:rPr>
              <a:t>printf</a:t>
            </a:r>
            <a:r>
              <a:rPr lang="pt-BR" dirty="0" smtClean="0">
                <a:latin typeface="Courier New" pitchFamily="49" charset="0"/>
                <a:cs typeface="Courier New" pitchFamily="49" charset="0"/>
              </a:rPr>
              <a:t>(</a:t>
            </a:r>
            <a:r>
              <a:rPr lang="pt-BR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"Meu nome e %s.\n"</a:t>
            </a:r>
            <a:r>
              <a:rPr lang="pt-BR" dirty="0" smtClean="0">
                <a:latin typeface="Courier New" pitchFamily="49" charset="0"/>
                <a:cs typeface="Courier New" pitchFamily="49" charset="0"/>
              </a:rPr>
              <a:t>,c2);</a:t>
            </a:r>
            <a:endParaRPr lang="pt-BR" dirty="0">
              <a:latin typeface="Courier New" pitchFamily="49" charset="0"/>
              <a:cs typeface="Courier New" pitchFamily="49" charset="0"/>
            </a:endParaRPr>
          </a:p>
        </p:txBody>
      </p:sp>
      <p:pic>
        <p:nvPicPr>
          <p:cNvPr id="3078" name="Picture 6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143108" y="4214818"/>
            <a:ext cx="4572032" cy="2145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 smtClean="0"/>
              <a:t>scanf</a:t>
            </a:r>
            <a:r>
              <a:rPr lang="pt-BR" dirty="0" smtClean="0"/>
              <a:t>()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err="1" smtClean="0"/>
              <a:t>scanf</a:t>
            </a:r>
            <a:r>
              <a:rPr lang="pt-BR" dirty="0" smtClean="0"/>
              <a:t>() recebe dados inseridos pelo usuário através do console e os analisa e armazena através de um formato.</a:t>
            </a:r>
          </a:p>
          <a:p>
            <a:r>
              <a:rPr lang="pt-BR" dirty="0" smtClean="0"/>
              <a:t>O protótipo da função </a:t>
            </a:r>
            <a:r>
              <a:rPr lang="pt-BR" dirty="0" err="1" smtClean="0"/>
              <a:t>scanf</a:t>
            </a:r>
            <a:r>
              <a:rPr lang="pt-BR" dirty="0" smtClean="0"/>
              <a:t>() é:</a:t>
            </a:r>
          </a:p>
          <a:p>
            <a:endParaRPr lang="pt-BR" dirty="0" smtClean="0"/>
          </a:p>
          <a:p>
            <a:endParaRPr lang="pt-BR" dirty="0" smtClean="0"/>
          </a:p>
          <a:p>
            <a:r>
              <a:rPr lang="pt-BR" dirty="0" smtClean="0"/>
              <a:t>Em caso de sucesso na leitura, </a:t>
            </a:r>
            <a:r>
              <a:rPr lang="pt-BR" dirty="0" err="1" smtClean="0"/>
              <a:t>scanf</a:t>
            </a:r>
            <a:r>
              <a:rPr lang="pt-BR" dirty="0" smtClean="0"/>
              <a:t>() retorna o numero de caracteres lidos. Em caso de falha retorna um número negativo.</a:t>
            </a:r>
          </a:p>
          <a:p>
            <a:endParaRPr lang="pt-BR" dirty="0" smtClean="0"/>
          </a:p>
        </p:txBody>
      </p:sp>
      <p:sp>
        <p:nvSpPr>
          <p:cNvPr id="4" name="CaixaDeTexto 3"/>
          <p:cNvSpPr txBox="1"/>
          <p:nvPr/>
        </p:nvSpPr>
        <p:spPr>
          <a:xfrm>
            <a:off x="1000100" y="4202676"/>
            <a:ext cx="7215238" cy="36933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b="1" dirty="0" err="1">
                <a:latin typeface="Lucida Console" pitchFamily="49" charset="0"/>
                <a:cs typeface="Courier New" pitchFamily="49" charset="0"/>
              </a:rPr>
              <a:t>i</a:t>
            </a:r>
            <a:r>
              <a:rPr lang="pt-BR" b="1" dirty="0" err="1" smtClean="0">
                <a:latin typeface="Lucida Console" pitchFamily="49" charset="0"/>
                <a:cs typeface="Courier New" pitchFamily="49" charset="0"/>
              </a:rPr>
              <a:t>nt</a:t>
            </a:r>
            <a:r>
              <a:rPr lang="pt-BR" dirty="0" smtClean="0">
                <a:latin typeface="Lucida Console" pitchFamily="49" charset="0"/>
                <a:cs typeface="Courier New" pitchFamily="49" charset="0"/>
              </a:rPr>
              <a:t> </a:t>
            </a:r>
            <a:r>
              <a:rPr lang="pt-BR" dirty="0" err="1" smtClean="0">
                <a:latin typeface="Lucida Console" pitchFamily="49" charset="0"/>
                <a:cs typeface="Courier New" pitchFamily="49" charset="0"/>
              </a:rPr>
              <a:t>scanf</a:t>
            </a:r>
            <a:r>
              <a:rPr lang="pt-BR" dirty="0" smtClean="0">
                <a:latin typeface="Lucida Console" pitchFamily="49" charset="0"/>
                <a:cs typeface="Courier New" pitchFamily="49" charset="0"/>
              </a:rPr>
              <a:t> </a:t>
            </a:r>
            <a:r>
              <a:rPr lang="pt-BR" b="1" dirty="0" smtClean="0">
                <a:latin typeface="Lucida Console" pitchFamily="49" charset="0"/>
                <a:cs typeface="Courier New" pitchFamily="49" charset="0"/>
              </a:rPr>
              <a:t>(</a:t>
            </a:r>
            <a:r>
              <a:rPr lang="pt-BR" dirty="0" err="1" smtClean="0">
                <a:latin typeface="Lucida Console" pitchFamily="49" charset="0"/>
                <a:cs typeface="Courier New" pitchFamily="49" charset="0"/>
              </a:rPr>
              <a:t>const</a:t>
            </a:r>
            <a:r>
              <a:rPr lang="pt-BR" dirty="0" smtClean="0">
                <a:latin typeface="Lucida Console" pitchFamily="49" charset="0"/>
                <a:cs typeface="Courier New" pitchFamily="49" charset="0"/>
              </a:rPr>
              <a:t> </a:t>
            </a:r>
            <a:r>
              <a:rPr lang="pt-BR" dirty="0" err="1" smtClean="0">
                <a:latin typeface="Lucida Console" pitchFamily="49" charset="0"/>
                <a:cs typeface="Courier New" pitchFamily="49" charset="0"/>
              </a:rPr>
              <a:t>char</a:t>
            </a:r>
            <a:r>
              <a:rPr lang="pt-BR" dirty="0" smtClean="0">
                <a:latin typeface="Lucida Console" pitchFamily="49" charset="0"/>
                <a:cs typeface="Courier New" pitchFamily="49" charset="0"/>
              </a:rPr>
              <a:t>* formato</a:t>
            </a:r>
            <a:r>
              <a:rPr lang="pt-BR" i="1" dirty="0" smtClean="0">
                <a:latin typeface="Lucida Console" pitchFamily="49" charset="0"/>
                <a:cs typeface="Courier New" pitchFamily="49" charset="0"/>
              </a:rPr>
              <a:t>, </a:t>
            </a:r>
            <a:r>
              <a:rPr lang="pt-BR" dirty="0" smtClean="0">
                <a:latin typeface="Lucida Console" pitchFamily="49" charset="0"/>
                <a:cs typeface="Courier New" pitchFamily="49" charset="0"/>
              </a:rPr>
              <a:t>...</a:t>
            </a:r>
            <a:r>
              <a:rPr lang="pt-BR" b="1" dirty="0" smtClean="0">
                <a:latin typeface="Lucida Console" pitchFamily="49" charset="0"/>
                <a:cs typeface="Courier New" pitchFamily="49" charset="0"/>
              </a:rPr>
              <a:t>)</a:t>
            </a:r>
            <a:endParaRPr lang="pt-BR" dirty="0">
              <a:latin typeface="Lucida Console" pitchFamily="49" charset="0"/>
              <a:cs typeface="Courier New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 smtClean="0"/>
              <a:t>scanf</a:t>
            </a:r>
            <a:r>
              <a:rPr lang="pt-BR" dirty="0" smtClean="0"/>
              <a:t>() – Parâmetros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O primeiro parâmetro da função recebe a máscara para a leitura dos dados.</a:t>
            </a:r>
          </a:p>
          <a:p>
            <a:r>
              <a:rPr lang="pt-BR" dirty="0" smtClean="0"/>
              <a:t>Esta função utiliza as mesmas máscaras da função </a:t>
            </a:r>
            <a:r>
              <a:rPr lang="pt-BR" dirty="0" err="1" smtClean="0"/>
              <a:t>printf</a:t>
            </a:r>
            <a:r>
              <a:rPr lang="pt-BR" dirty="0" smtClean="0"/>
              <a:t>().</a:t>
            </a:r>
          </a:p>
          <a:p>
            <a:endParaRPr lang="pt-BR" dirty="0" smtClean="0"/>
          </a:p>
          <a:p>
            <a:r>
              <a:rPr lang="pt-BR" dirty="0" smtClean="0"/>
              <a:t>Os parâmetros adicionais são os endereços das variáveis a receber a entrada formatada.</a:t>
            </a:r>
          </a:p>
          <a:p>
            <a:r>
              <a:rPr lang="pt-BR" dirty="0" smtClean="0"/>
              <a:t>Utiliza-se o símbolo ‘&amp;’ no início de uma variável para exibir seu endereço.</a:t>
            </a:r>
          </a:p>
          <a:p>
            <a:endParaRPr lang="pt-BR" dirty="0" smtClean="0"/>
          </a:p>
          <a:p>
            <a:endParaRPr lang="pt-BR" dirty="0" smtClean="0"/>
          </a:p>
          <a:p>
            <a:endParaRPr lang="pt-BR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 smtClean="0"/>
              <a:t>scanf</a:t>
            </a:r>
            <a:r>
              <a:rPr lang="pt-BR" dirty="0" smtClean="0"/>
              <a:t>() – Exemplo 1</a:t>
            </a:r>
            <a:endParaRPr lang="pt-BR" dirty="0"/>
          </a:p>
        </p:txBody>
      </p:sp>
      <p:sp>
        <p:nvSpPr>
          <p:cNvPr id="4" name="CaixaDeTexto 3"/>
          <p:cNvSpPr txBox="1"/>
          <p:nvPr/>
        </p:nvSpPr>
        <p:spPr>
          <a:xfrm>
            <a:off x="928662" y="2157233"/>
            <a:ext cx="7500990" cy="1200329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b="1" dirty="0" err="1" smtClean="0">
                <a:latin typeface="Courier New" pitchFamily="49" charset="0"/>
                <a:cs typeface="Courier New" pitchFamily="49" charset="0"/>
              </a:rPr>
              <a:t>int</a:t>
            </a:r>
            <a:r>
              <a:rPr lang="pt-BR" dirty="0" smtClean="0">
                <a:latin typeface="Courier New" pitchFamily="49" charset="0"/>
                <a:cs typeface="Courier New" pitchFamily="49" charset="0"/>
              </a:rPr>
              <a:t> num;</a:t>
            </a:r>
          </a:p>
          <a:p>
            <a:r>
              <a:rPr lang="pt-BR" dirty="0" err="1" smtClean="0">
                <a:latin typeface="Courier New" pitchFamily="49" charset="0"/>
                <a:cs typeface="Courier New" pitchFamily="49" charset="0"/>
              </a:rPr>
              <a:t>printf</a:t>
            </a:r>
            <a:r>
              <a:rPr lang="pt-BR" dirty="0" smtClean="0">
                <a:latin typeface="Courier New" pitchFamily="49" charset="0"/>
                <a:cs typeface="Courier New" pitchFamily="49" charset="0"/>
              </a:rPr>
              <a:t>(</a:t>
            </a:r>
            <a:r>
              <a:rPr lang="pt-BR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"Digite um numero inteiro: "</a:t>
            </a:r>
            <a:r>
              <a:rPr lang="pt-BR" dirty="0" smtClean="0">
                <a:latin typeface="Courier New" pitchFamily="49" charset="0"/>
                <a:cs typeface="Courier New" pitchFamily="49" charset="0"/>
              </a:rPr>
              <a:t>);</a:t>
            </a:r>
          </a:p>
          <a:p>
            <a:r>
              <a:rPr lang="pt-BR" dirty="0" err="1" smtClean="0">
                <a:latin typeface="Courier New" pitchFamily="49" charset="0"/>
                <a:cs typeface="Courier New" pitchFamily="49" charset="0"/>
              </a:rPr>
              <a:t>scanf</a:t>
            </a:r>
            <a:r>
              <a:rPr lang="pt-BR" dirty="0" smtClean="0">
                <a:latin typeface="Courier New" pitchFamily="49" charset="0"/>
                <a:cs typeface="Courier New" pitchFamily="49" charset="0"/>
              </a:rPr>
              <a:t>(</a:t>
            </a:r>
            <a:r>
              <a:rPr lang="pt-BR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"%d"</a:t>
            </a:r>
            <a:r>
              <a:rPr lang="pt-BR" dirty="0" smtClean="0">
                <a:latin typeface="Courier New" pitchFamily="49" charset="0"/>
                <a:cs typeface="Courier New" pitchFamily="49" charset="0"/>
              </a:rPr>
              <a:t>,&amp;num);</a:t>
            </a:r>
          </a:p>
          <a:p>
            <a:r>
              <a:rPr lang="pt-BR" dirty="0" err="1" smtClean="0">
                <a:latin typeface="Courier New" pitchFamily="49" charset="0"/>
                <a:cs typeface="Courier New" pitchFamily="49" charset="0"/>
              </a:rPr>
              <a:t>printf</a:t>
            </a:r>
            <a:r>
              <a:rPr lang="pt-BR" dirty="0" smtClean="0">
                <a:latin typeface="Courier New" pitchFamily="49" charset="0"/>
                <a:cs typeface="Courier New" pitchFamily="49" charset="0"/>
              </a:rPr>
              <a:t>(</a:t>
            </a:r>
            <a:r>
              <a:rPr lang="pt-BR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"\</a:t>
            </a:r>
            <a:r>
              <a:rPr lang="pt-BR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nO</a:t>
            </a:r>
            <a:r>
              <a:rPr lang="pt-BR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 dobro de %d e %d."</a:t>
            </a:r>
            <a:r>
              <a:rPr lang="pt-BR" dirty="0" smtClean="0">
                <a:latin typeface="Courier New" pitchFamily="49" charset="0"/>
                <a:cs typeface="Courier New" pitchFamily="49" charset="0"/>
              </a:rPr>
              <a:t>,num,num*</a:t>
            </a:r>
            <a:r>
              <a:rPr lang="pt-BR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2</a:t>
            </a:r>
            <a:r>
              <a:rPr lang="pt-BR" dirty="0" smtClean="0">
                <a:latin typeface="Courier New" pitchFamily="49" charset="0"/>
                <a:cs typeface="Courier New" pitchFamily="49" charset="0"/>
              </a:rPr>
              <a:t>);</a:t>
            </a:r>
            <a:endParaRPr lang="pt-BR" dirty="0">
              <a:latin typeface="Courier New" pitchFamily="49" charset="0"/>
              <a:cs typeface="Courier New" pitchFamily="49" charset="0"/>
            </a:endParaRPr>
          </a:p>
        </p:txBody>
      </p:sp>
      <p:pic>
        <p:nvPicPr>
          <p:cNvPr id="4101" name="Picture 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643042" y="3643314"/>
            <a:ext cx="5857916" cy="25822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 smtClean="0"/>
              <a:t>scanf</a:t>
            </a:r>
            <a:r>
              <a:rPr lang="pt-BR" dirty="0" smtClean="0"/>
              <a:t>() – Exemplo 2</a:t>
            </a:r>
            <a:endParaRPr lang="pt-BR" dirty="0"/>
          </a:p>
        </p:txBody>
      </p:sp>
      <p:sp>
        <p:nvSpPr>
          <p:cNvPr id="4" name="CaixaDeTexto 3"/>
          <p:cNvSpPr txBox="1"/>
          <p:nvPr/>
        </p:nvSpPr>
        <p:spPr>
          <a:xfrm>
            <a:off x="928662" y="2157233"/>
            <a:ext cx="7500990" cy="2031325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b="1" dirty="0" err="1" smtClean="0">
                <a:latin typeface="Courier New" pitchFamily="49" charset="0"/>
                <a:cs typeface="Courier New" pitchFamily="49" charset="0"/>
              </a:rPr>
              <a:t>char</a:t>
            </a:r>
            <a:r>
              <a:rPr lang="pt-BR" dirty="0" smtClean="0">
                <a:latin typeface="Courier New" pitchFamily="49" charset="0"/>
                <a:cs typeface="Courier New" pitchFamily="49" charset="0"/>
              </a:rPr>
              <a:t> nome[</a:t>
            </a:r>
            <a:r>
              <a:rPr lang="pt-BR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25</a:t>
            </a:r>
            <a:r>
              <a:rPr lang="pt-BR" dirty="0" smtClean="0">
                <a:latin typeface="Courier New" pitchFamily="49" charset="0"/>
                <a:cs typeface="Courier New" pitchFamily="49" charset="0"/>
              </a:rPr>
              <a:t>];</a:t>
            </a:r>
          </a:p>
          <a:p>
            <a:r>
              <a:rPr lang="pt-BR" b="1" dirty="0" err="1" smtClean="0">
                <a:latin typeface="Courier New" pitchFamily="49" charset="0"/>
                <a:cs typeface="Courier New" pitchFamily="49" charset="0"/>
              </a:rPr>
              <a:t>int</a:t>
            </a:r>
            <a:r>
              <a:rPr lang="pt-BR" dirty="0" smtClean="0">
                <a:latin typeface="Courier New" pitchFamily="49" charset="0"/>
                <a:cs typeface="Courier New" pitchFamily="49" charset="0"/>
              </a:rPr>
              <a:t> idade;</a:t>
            </a:r>
          </a:p>
          <a:p>
            <a:r>
              <a:rPr lang="pt-BR" dirty="0" err="1" smtClean="0">
                <a:latin typeface="Courier New" pitchFamily="49" charset="0"/>
                <a:cs typeface="Courier New" pitchFamily="49" charset="0"/>
              </a:rPr>
              <a:t>printf</a:t>
            </a:r>
            <a:r>
              <a:rPr lang="pt-BR" dirty="0" smtClean="0">
                <a:latin typeface="Courier New" pitchFamily="49" charset="0"/>
                <a:cs typeface="Courier New" pitchFamily="49" charset="0"/>
              </a:rPr>
              <a:t>(</a:t>
            </a:r>
            <a:r>
              <a:rPr lang="pt-BR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"Informe o nome: "</a:t>
            </a:r>
            <a:r>
              <a:rPr lang="pt-BR" dirty="0" smtClean="0">
                <a:latin typeface="Courier New" pitchFamily="49" charset="0"/>
                <a:cs typeface="Courier New" pitchFamily="49" charset="0"/>
              </a:rPr>
              <a:t>);</a:t>
            </a:r>
          </a:p>
          <a:p>
            <a:r>
              <a:rPr lang="pt-BR" dirty="0" err="1" smtClean="0">
                <a:latin typeface="Courier New" pitchFamily="49" charset="0"/>
                <a:cs typeface="Courier New" pitchFamily="49" charset="0"/>
              </a:rPr>
              <a:t>scanf</a:t>
            </a:r>
            <a:r>
              <a:rPr lang="pt-BR" dirty="0" smtClean="0">
                <a:latin typeface="Courier New" pitchFamily="49" charset="0"/>
                <a:cs typeface="Courier New" pitchFamily="49" charset="0"/>
              </a:rPr>
              <a:t>(</a:t>
            </a:r>
            <a:r>
              <a:rPr lang="pt-BR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"%s"</a:t>
            </a:r>
            <a:r>
              <a:rPr lang="pt-BR" dirty="0" smtClean="0">
                <a:latin typeface="Courier New" pitchFamily="49" charset="0"/>
                <a:cs typeface="Courier New" pitchFamily="49" charset="0"/>
              </a:rPr>
              <a:t>,nome);</a:t>
            </a:r>
          </a:p>
          <a:p>
            <a:r>
              <a:rPr lang="pt-BR" dirty="0" err="1" smtClean="0">
                <a:latin typeface="Courier New" pitchFamily="49" charset="0"/>
                <a:cs typeface="Courier New" pitchFamily="49" charset="0"/>
              </a:rPr>
              <a:t>printf</a:t>
            </a:r>
            <a:r>
              <a:rPr lang="pt-BR" dirty="0" smtClean="0">
                <a:latin typeface="Courier New" pitchFamily="49" charset="0"/>
                <a:cs typeface="Courier New" pitchFamily="49" charset="0"/>
              </a:rPr>
              <a:t>(</a:t>
            </a:r>
            <a:r>
              <a:rPr lang="pt-BR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"Informe a idade: "</a:t>
            </a:r>
            <a:r>
              <a:rPr lang="pt-BR" dirty="0" smtClean="0">
                <a:latin typeface="Courier New" pitchFamily="49" charset="0"/>
                <a:cs typeface="Courier New" pitchFamily="49" charset="0"/>
              </a:rPr>
              <a:t>);</a:t>
            </a:r>
          </a:p>
          <a:p>
            <a:r>
              <a:rPr lang="pt-BR" dirty="0" err="1" smtClean="0">
                <a:latin typeface="Courier New" pitchFamily="49" charset="0"/>
                <a:cs typeface="Courier New" pitchFamily="49" charset="0"/>
              </a:rPr>
              <a:t>scanf</a:t>
            </a:r>
            <a:r>
              <a:rPr lang="pt-BR" dirty="0" smtClean="0">
                <a:latin typeface="Courier New" pitchFamily="49" charset="0"/>
                <a:cs typeface="Courier New" pitchFamily="49" charset="0"/>
              </a:rPr>
              <a:t>(</a:t>
            </a:r>
            <a:r>
              <a:rPr lang="pt-BR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"%d"</a:t>
            </a:r>
            <a:r>
              <a:rPr lang="pt-BR" dirty="0" smtClean="0">
                <a:latin typeface="Courier New" pitchFamily="49" charset="0"/>
                <a:cs typeface="Courier New" pitchFamily="49" charset="0"/>
              </a:rPr>
              <a:t>,&amp;idade);</a:t>
            </a:r>
          </a:p>
          <a:p>
            <a:r>
              <a:rPr lang="pt-BR" dirty="0" err="1" smtClean="0">
                <a:latin typeface="Courier New" pitchFamily="49" charset="0"/>
                <a:cs typeface="Courier New" pitchFamily="49" charset="0"/>
              </a:rPr>
              <a:t>printf</a:t>
            </a:r>
            <a:r>
              <a:rPr lang="pt-BR" dirty="0" smtClean="0">
                <a:latin typeface="Courier New" pitchFamily="49" charset="0"/>
                <a:cs typeface="Courier New" pitchFamily="49" charset="0"/>
              </a:rPr>
              <a:t>(</a:t>
            </a:r>
            <a:r>
              <a:rPr lang="pt-BR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"\</a:t>
            </a:r>
            <a:r>
              <a:rPr lang="pt-BR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nO</a:t>
            </a:r>
            <a:r>
              <a:rPr lang="pt-BR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pt-BR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usuario</a:t>
            </a:r>
            <a:r>
              <a:rPr lang="pt-BR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 %s tem %d anos!"</a:t>
            </a:r>
            <a:r>
              <a:rPr lang="pt-BR" dirty="0" smtClean="0">
                <a:latin typeface="Courier New" pitchFamily="49" charset="0"/>
                <a:cs typeface="Courier New" pitchFamily="49" charset="0"/>
              </a:rPr>
              <a:t>,nome,idade);</a:t>
            </a:r>
            <a:endParaRPr lang="pt-BR" dirty="0">
              <a:latin typeface="Courier New" pitchFamily="49" charset="0"/>
              <a:cs typeface="Courier New" pitchFamily="49" charset="0"/>
            </a:endParaRPr>
          </a:p>
        </p:txBody>
      </p:sp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643042" y="4286256"/>
            <a:ext cx="5643602" cy="23459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1000108"/>
            <a:ext cx="8229600" cy="5574428"/>
          </a:xfrm>
        </p:spPr>
        <p:txBody>
          <a:bodyPr/>
          <a:lstStyle/>
          <a:p>
            <a:r>
              <a:rPr lang="pt-BR" b="1" dirty="0" smtClean="0"/>
              <a:t>Aluno:</a:t>
            </a:r>
            <a:r>
              <a:rPr lang="pt-BR" dirty="0" smtClean="0"/>
              <a:t> Luiz Marcelo M. Franco</a:t>
            </a:r>
          </a:p>
          <a:p>
            <a:r>
              <a:rPr lang="pt-BR" b="1" dirty="0" smtClean="0"/>
              <a:t>Curso: </a:t>
            </a:r>
            <a:r>
              <a:rPr lang="pt-BR" dirty="0" smtClean="0"/>
              <a:t>Ciência da Computação</a:t>
            </a:r>
          </a:p>
          <a:p>
            <a:r>
              <a:rPr lang="pt-BR" b="1" dirty="0" smtClean="0"/>
              <a:t>Período: </a:t>
            </a:r>
            <a:r>
              <a:rPr lang="pt-BR" dirty="0" smtClean="0"/>
              <a:t>1º</a:t>
            </a:r>
          </a:p>
          <a:p>
            <a:r>
              <a:rPr lang="pt-BR" b="1" dirty="0" smtClean="0"/>
              <a:t>Disciplina: </a:t>
            </a:r>
            <a:r>
              <a:rPr lang="pt-BR" dirty="0" smtClean="0"/>
              <a:t>Introdução à Programação</a:t>
            </a:r>
          </a:p>
          <a:p>
            <a:r>
              <a:rPr lang="pt-BR" b="1" dirty="0" smtClean="0"/>
              <a:t>Professor: </a:t>
            </a:r>
            <a:r>
              <a:rPr lang="pt-BR" dirty="0" smtClean="0"/>
              <a:t>William </a:t>
            </a:r>
            <a:r>
              <a:rPr lang="pt-BR" dirty="0" err="1" smtClean="0"/>
              <a:t>Malvezzi</a:t>
            </a:r>
            <a:endParaRPr lang="pt-BR" dirty="0" smtClean="0"/>
          </a:p>
          <a:p>
            <a:endParaRPr lang="pt-BR" dirty="0" smtClean="0"/>
          </a:p>
          <a:p>
            <a:pPr>
              <a:buNone/>
            </a:pPr>
            <a:r>
              <a:rPr lang="pt-BR" sz="2400" b="1" dirty="0" smtClean="0"/>
              <a:t>Referências Bibliográficas:</a:t>
            </a:r>
          </a:p>
          <a:p>
            <a:r>
              <a:rPr lang="pt-BR" sz="2000" smtClean="0"/>
              <a:t>http://www.cplusplus.com – visitado em 31/03/2011 </a:t>
            </a:r>
            <a:endParaRPr lang="pt-BR" sz="2000" dirty="0" smtClean="0"/>
          </a:p>
        </p:txBody>
      </p:sp>
      <p:sp>
        <p:nvSpPr>
          <p:cNvPr id="4" name="Retângulo 3"/>
          <p:cNvSpPr/>
          <p:nvPr/>
        </p:nvSpPr>
        <p:spPr>
          <a:xfrm>
            <a:off x="7215206" y="5715016"/>
            <a:ext cx="166744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pt-BR" sz="5400" b="1" cap="none" spc="0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noFill/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FIM</a:t>
            </a:r>
            <a:endParaRPr lang="pt-BR" sz="5400" b="1" cap="none" spc="0" dirty="0">
              <a:ln w="18000">
                <a:solidFill>
                  <a:schemeClr val="accent2">
                    <a:satMod val="140000"/>
                  </a:schemeClr>
                </a:solidFill>
                <a:prstDash val="solid"/>
                <a:miter lim="800000"/>
              </a:ln>
              <a:noFill/>
              <a:effectLst>
                <a:outerShdw blurRad="25500" dist="23000" dir="7020000" algn="tl">
                  <a:srgbClr val="000000">
                    <a:alpha val="50000"/>
                  </a:srgbClr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Urbano">
  <a:themeElements>
    <a:clrScheme name="Urbano">
      <a:dk1>
        <a:sysClr val="windowText" lastClr="000000"/>
      </a:dk1>
      <a:lt1>
        <a:sysClr val="window" lastClr="FFFFFF"/>
      </a:lt1>
      <a:dk2>
        <a:srgbClr val="424456"/>
      </a:dk2>
      <a:lt2>
        <a:srgbClr val="DEDEDE"/>
      </a:lt2>
      <a:accent1>
        <a:srgbClr val="53548A"/>
      </a:accent1>
      <a:accent2>
        <a:srgbClr val="438086"/>
      </a:accent2>
      <a:accent3>
        <a:srgbClr val="A04DA3"/>
      </a:accent3>
      <a:accent4>
        <a:srgbClr val="C4652D"/>
      </a:accent4>
      <a:accent5>
        <a:srgbClr val="8B5D3D"/>
      </a:accent5>
      <a:accent6>
        <a:srgbClr val="5C92B5"/>
      </a:accent6>
      <a:hlink>
        <a:srgbClr val="67AFBD"/>
      </a:hlink>
      <a:folHlink>
        <a:srgbClr val="C2A874"/>
      </a:folHlink>
    </a:clrScheme>
    <a:fontScheme name="Urbano">
      <a:majorFont>
        <a:latin typeface="Trebuchet MS"/>
        <a:ea typeface=""/>
        <a:cs typeface=""/>
        <a:font script="Jpan" typeface="HGｺﾞｼｯｸM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Georgia"/>
        <a:ea typeface=""/>
        <a:cs typeface=""/>
        <a:font script="Jpan" typeface="HG明朝B"/>
        <a:font script="Hang" typeface="맑은 고딕"/>
        <a:font script="Hans" typeface="宋体"/>
        <a:font script="Hant" typeface="新細明體"/>
        <a:font script="Arab" typeface="Arial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Urbano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  <a:satMod val="255000"/>
              </a:schemeClr>
            </a:gs>
            <a:gs pos="55000">
              <a:schemeClr val="phClr">
                <a:tint val="12000"/>
                <a:satMod val="255000"/>
              </a:schemeClr>
            </a:gs>
            <a:gs pos="100000">
              <a:schemeClr val="phClr">
                <a:tint val="45000"/>
                <a:satMod val="250000"/>
              </a:schemeClr>
            </a:gs>
          </a:gsLst>
          <a:path path="circle">
            <a:fillToRect l="-40000" t="-90000" r="140000" b="190000"/>
          </a:path>
        </a:gradFill>
        <a:gradFill rotWithShape="1">
          <a:gsLst>
            <a:gs pos="0">
              <a:schemeClr val="phClr">
                <a:tint val="43000"/>
                <a:satMod val="165000"/>
              </a:schemeClr>
            </a:gs>
            <a:gs pos="55000">
              <a:schemeClr val="phClr">
                <a:tint val="83000"/>
                <a:satMod val="155000"/>
              </a:schemeClr>
            </a:gs>
            <a:gs pos="100000">
              <a:schemeClr val="phClr">
                <a:shade val="85000"/>
              </a:schemeClr>
            </a:gs>
          </a:gsLst>
          <a:path path="circle">
            <a:fillToRect l="-40000" t="-90000" r="140000" b="19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15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flat" dir="t">
              <a:rot lat="0" lon="0" rev="20040000"/>
            </a:lightRig>
          </a:scene3d>
          <a:sp3d contourW="12700" prstMaterial="dkEdge">
            <a:bevelT w="25400" h="38100" prst="convex"/>
            <a:contourClr>
              <a:schemeClr val="phClr">
                <a:satMod val="115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100000">
              <a:schemeClr val="phClr">
                <a:tint val="80000"/>
                <a:satMod val="250000"/>
              </a:schemeClr>
            </a:gs>
            <a:gs pos="60000">
              <a:schemeClr val="phClr">
                <a:shade val="38000"/>
                <a:satMod val="175000"/>
              </a:schemeClr>
            </a:gs>
            <a:gs pos="0">
              <a:schemeClr val="phClr">
                <a:shade val="30000"/>
                <a:satMod val="175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</a:schemeClr>
              <a:schemeClr val="phClr">
                <a:tint val="96000"/>
                <a:satMod val="150000"/>
              </a:schemeClr>
            </a:duotone>
          </a:blip>
          <a:tile tx="0" ty="0" sx="80000" sy="8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Urban</Template>
  <TotalTime>146</TotalTime>
  <Words>664</Words>
  <Application>Microsoft Office PowerPoint</Application>
  <PresentationFormat>Apresentação na tela (4:3)</PresentationFormat>
  <Paragraphs>83</Paragraphs>
  <Slides>13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13</vt:i4>
      </vt:variant>
    </vt:vector>
  </HeadingPairs>
  <TitlesOfParts>
    <vt:vector size="14" baseType="lpstr">
      <vt:lpstr>Urbano</vt:lpstr>
      <vt:lpstr>Funções de Entrada e Saída</vt:lpstr>
      <vt:lpstr>Funções printf() e scanf().</vt:lpstr>
      <vt:lpstr>printf()</vt:lpstr>
      <vt:lpstr>printf() – Formatação 1</vt:lpstr>
      <vt:lpstr>printf() – Formatação 2</vt:lpstr>
      <vt:lpstr>printf() – Exemplo 1</vt:lpstr>
      <vt:lpstr>printf() – Exemplo 2</vt:lpstr>
      <vt:lpstr>printf() – Exemplo 3</vt:lpstr>
      <vt:lpstr>scanf()</vt:lpstr>
      <vt:lpstr>scanf() – Parâmetros</vt:lpstr>
      <vt:lpstr>scanf() – Exemplo 1</vt:lpstr>
      <vt:lpstr>scanf() – Exemplo 2</vt:lpstr>
      <vt:lpstr>Apresentação do PowerPoint</vt:lpstr>
    </vt:vector>
  </TitlesOfParts>
  <Company>FUCAPI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Funções printf() e scanf().</dc:title>
  <dc:creator>Luiz Franco</dc:creator>
  <cp:lastModifiedBy>wmalvezzi</cp:lastModifiedBy>
  <cp:revision>25</cp:revision>
  <dcterms:created xsi:type="dcterms:W3CDTF">2011-03-31T22:34:08Z</dcterms:created>
  <dcterms:modified xsi:type="dcterms:W3CDTF">2011-09-17T00:50:25Z</dcterms:modified>
</cp:coreProperties>
</file>